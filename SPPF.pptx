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0" r:id="rId6"/>
    <p:sldId id="267" r:id="rId7"/>
    <p:sldId id="262" r:id="rId8"/>
    <p:sldId id="263" r:id="rId9"/>
    <p:sldId id="268" r:id="rId10"/>
    <p:sldId id="264" r:id="rId11"/>
    <p:sldId id="266" r:id="rId12"/>
    <p:sldId id="265" r:id="rId13"/>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464A"/>
    <a:srgbClr val="71666A"/>
    <a:srgbClr val="7D7681"/>
    <a:srgbClr val="0C2B86"/>
    <a:srgbClr val="BF30C8"/>
    <a:srgbClr val="00CCFF"/>
    <a:srgbClr val="3333CC"/>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20" autoAdjust="0"/>
    <p:restoredTop sz="95256" autoAdjust="0"/>
  </p:normalViewPr>
  <p:slideViewPr>
    <p:cSldViewPr snapToGrid="0">
      <p:cViewPr varScale="1">
        <p:scale>
          <a:sx n="82" d="100"/>
          <a:sy n="82" d="100"/>
        </p:scale>
        <p:origin x="90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096AB-CEC0-4A73-B97D-95590C2443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1AD25E-62A6-498B-8CF9-BB4EA63CCF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8533E3C-05A5-4D3A-B4A5-9E58C796192C}"/>
              </a:ext>
            </a:extLst>
          </p:cNvPr>
          <p:cNvSpPr>
            <a:spLocks noGrp="1"/>
          </p:cNvSpPr>
          <p:nvPr>
            <p:ph type="dt" sz="half" idx="10"/>
          </p:nvPr>
        </p:nvSpPr>
        <p:spPr/>
        <p:txBody>
          <a:bodyPr/>
          <a:lstStyle/>
          <a:p>
            <a:fld id="{27F72E7B-E2E7-4991-AABE-CE9596FE36C8}" type="datetimeFigureOut">
              <a:rPr lang="en-IN" smtClean="0"/>
              <a:t>26-07-2021</a:t>
            </a:fld>
            <a:endParaRPr lang="en-IN"/>
          </a:p>
        </p:txBody>
      </p:sp>
      <p:sp>
        <p:nvSpPr>
          <p:cNvPr id="5" name="Footer Placeholder 4">
            <a:extLst>
              <a:ext uri="{FF2B5EF4-FFF2-40B4-BE49-F238E27FC236}">
                <a16:creationId xmlns:a16="http://schemas.microsoft.com/office/drawing/2014/main" id="{D2722129-5888-4880-B86D-DFFA33971F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3EAB75-5DC0-4AC6-B0E8-AD6C3F936295}"/>
              </a:ext>
            </a:extLst>
          </p:cNvPr>
          <p:cNvSpPr>
            <a:spLocks noGrp="1"/>
          </p:cNvSpPr>
          <p:nvPr>
            <p:ph type="sldNum" sz="quarter" idx="12"/>
          </p:nvPr>
        </p:nvSpPr>
        <p:spPr/>
        <p:txBody>
          <a:bodyPr/>
          <a:lstStyle/>
          <a:p>
            <a:fld id="{11F6E3E1-27F9-4DB4-9802-4D62643F3454}" type="slidenum">
              <a:rPr lang="en-IN" smtClean="0"/>
              <a:t>‹#›</a:t>
            </a:fld>
            <a:endParaRPr lang="en-IN"/>
          </a:p>
        </p:txBody>
      </p:sp>
    </p:spTree>
    <p:extLst>
      <p:ext uri="{BB962C8B-B14F-4D97-AF65-F5344CB8AC3E}">
        <p14:creationId xmlns:p14="http://schemas.microsoft.com/office/powerpoint/2010/main" val="774604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70B21-E275-443E-B8FB-2F9E96413D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5A178A-ABAE-4EA8-AA69-5EFE715844D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DE78C8-A070-4A75-9879-0178E9A5EB64}"/>
              </a:ext>
            </a:extLst>
          </p:cNvPr>
          <p:cNvSpPr>
            <a:spLocks noGrp="1"/>
          </p:cNvSpPr>
          <p:nvPr>
            <p:ph type="dt" sz="half" idx="10"/>
          </p:nvPr>
        </p:nvSpPr>
        <p:spPr/>
        <p:txBody>
          <a:bodyPr/>
          <a:lstStyle/>
          <a:p>
            <a:fld id="{27F72E7B-E2E7-4991-AABE-CE9596FE36C8}" type="datetimeFigureOut">
              <a:rPr lang="en-IN" smtClean="0"/>
              <a:t>26-07-2021</a:t>
            </a:fld>
            <a:endParaRPr lang="en-IN"/>
          </a:p>
        </p:txBody>
      </p:sp>
      <p:sp>
        <p:nvSpPr>
          <p:cNvPr id="5" name="Footer Placeholder 4">
            <a:extLst>
              <a:ext uri="{FF2B5EF4-FFF2-40B4-BE49-F238E27FC236}">
                <a16:creationId xmlns:a16="http://schemas.microsoft.com/office/drawing/2014/main" id="{83708C6D-7CBC-443F-BD3A-7A3B070F7E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397345-D86B-4FDC-8CC2-DF45B2543577}"/>
              </a:ext>
            </a:extLst>
          </p:cNvPr>
          <p:cNvSpPr>
            <a:spLocks noGrp="1"/>
          </p:cNvSpPr>
          <p:nvPr>
            <p:ph type="sldNum" sz="quarter" idx="12"/>
          </p:nvPr>
        </p:nvSpPr>
        <p:spPr/>
        <p:txBody>
          <a:bodyPr/>
          <a:lstStyle/>
          <a:p>
            <a:fld id="{11F6E3E1-27F9-4DB4-9802-4D62643F3454}" type="slidenum">
              <a:rPr lang="en-IN" smtClean="0"/>
              <a:t>‹#›</a:t>
            </a:fld>
            <a:endParaRPr lang="en-IN"/>
          </a:p>
        </p:txBody>
      </p:sp>
    </p:spTree>
    <p:extLst>
      <p:ext uri="{BB962C8B-B14F-4D97-AF65-F5344CB8AC3E}">
        <p14:creationId xmlns:p14="http://schemas.microsoft.com/office/powerpoint/2010/main" val="85401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AAD9E-42A6-4E0D-BF70-9E4B89D295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FA69AE-7D65-4482-A979-1DCE65C63B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1E1CB45-CB39-4854-B015-CBAB566CBA6D}"/>
              </a:ext>
            </a:extLst>
          </p:cNvPr>
          <p:cNvSpPr>
            <a:spLocks noGrp="1"/>
          </p:cNvSpPr>
          <p:nvPr>
            <p:ph type="dt" sz="half" idx="10"/>
          </p:nvPr>
        </p:nvSpPr>
        <p:spPr/>
        <p:txBody>
          <a:bodyPr/>
          <a:lstStyle/>
          <a:p>
            <a:fld id="{27F72E7B-E2E7-4991-AABE-CE9596FE36C8}" type="datetimeFigureOut">
              <a:rPr lang="en-IN" smtClean="0"/>
              <a:t>26-07-2021</a:t>
            </a:fld>
            <a:endParaRPr lang="en-IN"/>
          </a:p>
        </p:txBody>
      </p:sp>
      <p:sp>
        <p:nvSpPr>
          <p:cNvPr id="5" name="Footer Placeholder 4">
            <a:extLst>
              <a:ext uri="{FF2B5EF4-FFF2-40B4-BE49-F238E27FC236}">
                <a16:creationId xmlns:a16="http://schemas.microsoft.com/office/drawing/2014/main" id="{1D72E6D4-EDF6-440A-902C-31DF19008E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3B27F5-9404-42A2-97E2-26AD32D125B9}"/>
              </a:ext>
            </a:extLst>
          </p:cNvPr>
          <p:cNvSpPr>
            <a:spLocks noGrp="1"/>
          </p:cNvSpPr>
          <p:nvPr>
            <p:ph type="sldNum" sz="quarter" idx="12"/>
          </p:nvPr>
        </p:nvSpPr>
        <p:spPr/>
        <p:txBody>
          <a:bodyPr/>
          <a:lstStyle/>
          <a:p>
            <a:fld id="{11F6E3E1-27F9-4DB4-9802-4D62643F3454}" type="slidenum">
              <a:rPr lang="en-IN" smtClean="0"/>
              <a:t>‹#›</a:t>
            </a:fld>
            <a:endParaRPr lang="en-IN"/>
          </a:p>
        </p:txBody>
      </p:sp>
    </p:spTree>
    <p:extLst>
      <p:ext uri="{BB962C8B-B14F-4D97-AF65-F5344CB8AC3E}">
        <p14:creationId xmlns:p14="http://schemas.microsoft.com/office/powerpoint/2010/main" val="948574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5677F-10B9-4F2D-A9C9-13515FD9A1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C03732-B39C-40FA-8D12-FE9ADEBC1F5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5A77FA7-5478-4CFA-8624-124DA06CAA9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741A729-B123-443C-B10C-BBFFB955DC61}"/>
              </a:ext>
            </a:extLst>
          </p:cNvPr>
          <p:cNvSpPr>
            <a:spLocks noGrp="1"/>
          </p:cNvSpPr>
          <p:nvPr>
            <p:ph type="dt" sz="half" idx="10"/>
          </p:nvPr>
        </p:nvSpPr>
        <p:spPr/>
        <p:txBody>
          <a:bodyPr/>
          <a:lstStyle/>
          <a:p>
            <a:fld id="{27F72E7B-E2E7-4991-AABE-CE9596FE36C8}" type="datetimeFigureOut">
              <a:rPr lang="en-IN" smtClean="0"/>
              <a:t>26-07-2021</a:t>
            </a:fld>
            <a:endParaRPr lang="en-IN"/>
          </a:p>
        </p:txBody>
      </p:sp>
      <p:sp>
        <p:nvSpPr>
          <p:cNvPr id="6" name="Footer Placeholder 5">
            <a:extLst>
              <a:ext uri="{FF2B5EF4-FFF2-40B4-BE49-F238E27FC236}">
                <a16:creationId xmlns:a16="http://schemas.microsoft.com/office/drawing/2014/main" id="{0BA0D5CF-D3DB-4C3E-B041-3A474FE522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AC1251-FFFA-461D-989B-942571A4D435}"/>
              </a:ext>
            </a:extLst>
          </p:cNvPr>
          <p:cNvSpPr>
            <a:spLocks noGrp="1"/>
          </p:cNvSpPr>
          <p:nvPr>
            <p:ph type="sldNum" sz="quarter" idx="12"/>
          </p:nvPr>
        </p:nvSpPr>
        <p:spPr/>
        <p:txBody>
          <a:bodyPr/>
          <a:lstStyle/>
          <a:p>
            <a:fld id="{11F6E3E1-27F9-4DB4-9802-4D62643F3454}" type="slidenum">
              <a:rPr lang="en-IN" smtClean="0"/>
              <a:t>‹#›</a:t>
            </a:fld>
            <a:endParaRPr lang="en-IN"/>
          </a:p>
        </p:txBody>
      </p:sp>
    </p:spTree>
    <p:extLst>
      <p:ext uri="{BB962C8B-B14F-4D97-AF65-F5344CB8AC3E}">
        <p14:creationId xmlns:p14="http://schemas.microsoft.com/office/powerpoint/2010/main" val="3113079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B10EF-FBE6-4CBA-A966-46E4CC162C9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FB1BCC-5E43-4309-A1C4-83F5DD2826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6A22D3-F37C-4880-9C1F-4EFCECB928A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AC2544-F884-4A49-BBD4-778904AB96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F0BACF1-7FA6-4650-8730-BA7469A6EF0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13146DA-64C6-4525-A9F7-52D205D88B04}"/>
              </a:ext>
            </a:extLst>
          </p:cNvPr>
          <p:cNvSpPr>
            <a:spLocks noGrp="1"/>
          </p:cNvSpPr>
          <p:nvPr>
            <p:ph type="dt" sz="half" idx="10"/>
          </p:nvPr>
        </p:nvSpPr>
        <p:spPr/>
        <p:txBody>
          <a:bodyPr/>
          <a:lstStyle/>
          <a:p>
            <a:fld id="{27F72E7B-E2E7-4991-AABE-CE9596FE36C8}" type="datetimeFigureOut">
              <a:rPr lang="en-IN" smtClean="0"/>
              <a:t>26-07-2021</a:t>
            </a:fld>
            <a:endParaRPr lang="en-IN"/>
          </a:p>
        </p:txBody>
      </p:sp>
      <p:sp>
        <p:nvSpPr>
          <p:cNvPr id="8" name="Footer Placeholder 7">
            <a:extLst>
              <a:ext uri="{FF2B5EF4-FFF2-40B4-BE49-F238E27FC236}">
                <a16:creationId xmlns:a16="http://schemas.microsoft.com/office/drawing/2014/main" id="{F60A1833-7FFB-4CDE-85AA-32073BF54B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026A3D-CFE5-466F-8FD8-57225CEE48A3}"/>
              </a:ext>
            </a:extLst>
          </p:cNvPr>
          <p:cNvSpPr>
            <a:spLocks noGrp="1"/>
          </p:cNvSpPr>
          <p:nvPr>
            <p:ph type="sldNum" sz="quarter" idx="12"/>
          </p:nvPr>
        </p:nvSpPr>
        <p:spPr/>
        <p:txBody>
          <a:bodyPr/>
          <a:lstStyle/>
          <a:p>
            <a:fld id="{11F6E3E1-27F9-4DB4-9802-4D62643F3454}" type="slidenum">
              <a:rPr lang="en-IN" smtClean="0"/>
              <a:t>‹#›</a:t>
            </a:fld>
            <a:endParaRPr lang="en-IN"/>
          </a:p>
        </p:txBody>
      </p:sp>
    </p:spTree>
    <p:extLst>
      <p:ext uri="{BB962C8B-B14F-4D97-AF65-F5344CB8AC3E}">
        <p14:creationId xmlns:p14="http://schemas.microsoft.com/office/powerpoint/2010/main" val="4218359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7C1D0-FB76-41DE-B64C-93DE0E264ED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6DB5B2A-6C21-40E7-8096-1431E1C7F7C7}"/>
              </a:ext>
            </a:extLst>
          </p:cNvPr>
          <p:cNvSpPr>
            <a:spLocks noGrp="1"/>
          </p:cNvSpPr>
          <p:nvPr>
            <p:ph type="dt" sz="half" idx="10"/>
          </p:nvPr>
        </p:nvSpPr>
        <p:spPr/>
        <p:txBody>
          <a:bodyPr/>
          <a:lstStyle/>
          <a:p>
            <a:fld id="{27F72E7B-E2E7-4991-AABE-CE9596FE36C8}" type="datetimeFigureOut">
              <a:rPr lang="en-IN" smtClean="0"/>
              <a:t>26-07-2021</a:t>
            </a:fld>
            <a:endParaRPr lang="en-IN"/>
          </a:p>
        </p:txBody>
      </p:sp>
      <p:sp>
        <p:nvSpPr>
          <p:cNvPr id="4" name="Footer Placeholder 3">
            <a:extLst>
              <a:ext uri="{FF2B5EF4-FFF2-40B4-BE49-F238E27FC236}">
                <a16:creationId xmlns:a16="http://schemas.microsoft.com/office/drawing/2014/main" id="{21523D96-1B4D-416F-9805-845FD18BB6A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7DDA645-B940-497A-89AD-2EB98B8489ED}"/>
              </a:ext>
            </a:extLst>
          </p:cNvPr>
          <p:cNvSpPr>
            <a:spLocks noGrp="1"/>
          </p:cNvSpPr>
          <p:nvPr>
            <p:ph type="sldNum" sz="quarter" idx="12"/>
          </p:nvPr>
        </p:nvSpPr>
        <p:spPr/>
        <p:txBody>
          <a:bodyPr/>
          <a:lstStyle/>
          <a:p>
            <a:fld id="{11F6E3E1-27F9-4DB4-9802-4D62643F3454}" type="slidenum">
              <a:rPr lang="en-IN" smtClean="0"/>
              <a:t>‹#›</a:t>
            </a:fld>
            <a:endParaRPr lang="en-IN"/>
          </a:p>
        </p:txBody>
      </p:sp>
    </p:spTree>
    <p:extLst>
      <p:ext uri="{BB962C8B-B14F-4D97-AF65-F5344CB8AC3E}">
        <p14:creationId xmlns:p14="http://schemas.microsoft.com/office/powerpoint/2010/main" val="1069309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EE876C-1EBF-441E-B336-A95578A67B74}"/>
              </a:ext>
            </a:extLst>
          </p:cNvPr>
          <p:cNvSpPr>
            <a:spLocks noGrp="1"/>
          </p:cNvSpPr>
          <p:nvPr>
            <p:ph type="dt" sz="half" idx="10"/>
          </p:nvPr>
        </p:nvSpPr>
        <p:spPr/>
        <p:txBody>
          <a:bodyPr/>
          <a:lstStyle/>
          <a:p>
            <a:fld id="{27F72E7B-E2E7-4991-AABE-CE9596FE36C8}" type="datetimeFigureOut">
              <a:rPr lang="en-IN" smtClean="0"/>
              <a:t>26-07-2021</a:t>
            </a:fld>
            <a:endParaRPr lang="en-IN"/>
          </a:p>
        </p:txBody>
      </p:sp>
      <p:sp>
        <p:nvSpPr>
          <p:cNvPr id="3" name="Footer Placeholder 2">
            <a:extLst>
              <a:ext uri="{FF2B5EF4-FFF2-40B4-BE49-F238E27FC236}">
                <a16:creationId xmlns:a16="http://schemas.microsoft.com/office/drawing/2014/main" id="{07D9676B-F88E-4B63-940B-B6AEF1E1905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4FCA72-8B89-42B3-83E8-67DE85E4AF51}"/>
              </a:ext>
            </a:extLst>
          </p:cNvPr>
          <p:cNvSpPr>
            <a:spLocks noGrp="1"/>
          </p:cNvSpPr>
          <p:nvPr>
            <p:ph type="sldNum" sz="quarter" idx="12"/>
          </p:nvPr>
        </p:nvSpPr>
        <p:spPr/>
        <p:txBody>
          <a:bodyPr/>
          <a:lstStyle/>
          <a:p>
            <a:fld id="{11F6E3E1-27F9-4DB4-9802-4D62643F3454}" type="slidenum">
              <a:rPr lang="en-IN" smtClean="0"/>
              <a:t>‹#›</a:t>
            </a:fld>
            <a:endParaRPr lang="en-IN"/>
          </a:p>
        </p:txBody>
      </p:sp>
    </p:spTree>
    <p:extLst>
      <p:ext uri="{BB962C8B-B14F-4D97-AF65-F5344CB8AC3E}">
        <p14:creationId xmlns:p14="http://schemas.microsoft.com/office/powerpoint/2010/main" val="2707103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2ED11-6453-48B4-8750-B30C66CFC2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F653508-2BC3-4F01-A581-F393AECDB0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84E5D2-AF69-461B-B141-C8CAD1D5F6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79A7C42-BF59-47F1-8EF6-632F644E10F5}"/>
              </a:ext>
            </a:extLst>
          </p:cNvPr>
          <p:cNvSpPr>
            <a:spLocks noGrp="1"/>
          </p:cNvSpPr>
          <p:nvPr>
            <p:ph type="dt" sz="half" idx="10"/>
          </p:nvPr>
        </p:nvSpPr>
        <p:spPr/>
        <p:txBody>
          <a:bodyPr/>
          <a:lstStyle/>
          <a:p>
            <a:fld id="{27F72E7B-E2E7-4991-AABE-CE9596FE36C8}" type="datetimeFigureOut">
              <a:rPr lang="en-IN" smtClean="0"/>
              <a:t>26-07-2021</a:t>
            </a:fld>
            <a:endParaRPr lang="en-IN"/>
          </a:p>
        </p:txBody>
      </p:sp>
      <p:sp>
        <p:nvSpPr>
          <p:cNvPr id="6" name="Footer Placeholder 5">
            <a:extLst>
              <a:ext uri="{FF2B5EF4-FFF2-40B4-BE49-F238E27FC236}">
                <a16:creationId xmlns:a16="http://schemas.microsoft.com/office/drawing/2014/main" id="{FBCC3961-594E-4837-A825-E46EE1D9A7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AFB9E4-CF9D-4B8D-A4D6-550820CFE0AA}"/>
              </a:ext>
            </a:extLst>
          </p:cNvPr>
          <p:cNvSpPr>
            <a:spLocks noGrp="1"/>
          </p:cNvSpPr>
          <p:nvPr>
            <p:ph type="sldNum" sz="quarter" idx="12"/>
          </p:nvPr>
        </p:nvSpPr>
        <p:spPr/>
        <p:txBody>
          <a:bodyPr/>
          <a:lstStyle/>
          <a:p>
            <a:fld id="{11F6E3E1-27F9-4DB4-9802-4D62643F3454}" type="slidenum">
              <a:rPr lang="en-IN" smtClean="0"/>
              <a:t>‹#›</a:t>
            </a:fld>
            <a:endParaRPr lang="en-IN"/>
          </a:p>
        </p:txBody>
      </p:sp>
    </p:spTree>
    <p:extLst>
      <p:ext uri="{BB962C8B-B14F-4D97-AF65-F5344CB8AC3E}">
        <p14:creationId xmlns:p14="http://schemas.microsoft.com/office/powerpoint/2010/main" val="3957731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184D3-6788-4F3C-8D67-6CB24EAC6D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D879480-90AC-4090-9622-8EB0DBCAE6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2E20FF5-09ED-47D9-83F0-D642FC5781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E0C28B8-90B0-4558-AAD7-0452FB30223D}"/>
              </a:ext>
            </a:extLst>
          </p:cNvPr>
          <p:cNvSpPr>
            <a:spLocks noGrp="1"/>
          </p:cNvSpPr>
          <p:nvPr>
            <p:ph type="dt" sz="half" idx="10"/>
          </p:nvPr>
        </p:nvSpPr>
        <p:spPr/>
        <p:txBody>
          <a:bodyPr/>
          <a:lstStyle/>
          <a:p>
            <a:fld id="{27F72E7B-E2E7-4991-AABE-CE9596FE36C8}" type="datetimeFigureOut">
              <a:rPr lang="en-IN" smtClean="0"/>
              <a:t>26-07-2021</a:t>
            </a:fld>
            <a:endParaRPr lang="en-IN"/>
          </a:p>
        </p:txBody>
      </p:sp>
      <p:sp>
        <p:nvSpPr>
          <p:cNvPr id="6" name="Footer Placeholder 5">
            <a:extLst>
              <a:ext uri="{FF2B5EF4-FFF2-40B4-BE49-F238E27FC236}">
                <a16:creationId xmlns:a16="http://schemas.microsoft.com/office/drawing/2014/main" id="{B69E26FA-6C92-4C01-B27A-EE919409DB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89C6A9-38F0-4AFF-A88E-5C3FF8172A25}"/>
              </a:ext>
            </a:extLst>
          </p:cNvPr>
          <p:cNvSpPr>
            <a:spLocks noGrp="1"/>
          </p:cNvSpPr>
          <p:nvPr>
            <p:ph type="sldNum" sz="quarter" idx="12"/>
          </p:nvPr>
        </p:nvSpPr>
        <p:spPr/>
        <p:txBody>
          <a:bodyPr/>
          <a:lstStyle/>
          <a:p>
            <a:fld id="{11F6E3E1-27F9-4DB4-9802-4D62643F3454}" type="slidenum">
              <a:rPr lang="en-IN" smtClean="0"/>
              <a:t>‹#›</a:t>
            </a:fld>
            <a:endParaRPr lang="en-IN"/>
          </a:p>
        </p:txBody>
      </p:sp>
    </p:spTree>
    <p:extLst>
      <p:ext uri="{BB962C8B-B14F-4D97-AF65-F5344CB8AC3E}">
        <p14:creationId xmlns:p14="http://schemas.microsoft.com/office/powerpoint/2010/main" val="3978866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0F2B3-88C0-416C-8FFC-7329D4F4FF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792A98-6D46-4269-A556-A8B38F3D66E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415405-B147-4A7F-9E15-3F8ABFEC1110}"/>
              </a:ext>
            </a:extLst>
          </p:cNvPr>
          <p:cNvSpPr>
            <a:spLocks noGrp="1"/>
          </p:cNvSpPr>
          <p:nvPr>
            <p:ph type="dt" sz="half" idx="10"/>
          </p:nvPr>
        </p:nvSpPr>
        <p:spPr/>
        <p:txBody>
          <a:bodyPr/>
          <a:lstStyle/>
          <a:p>
            <a:fld id="{27F72E7B-E2E7-4991-AABE-CE9596FE36C8}" type="datetimeFigureOut">
              <a:rPr lang="en-IN" smtClean="0"/>
              <a:t>26-07-2021</a:t>
            </a:fld>
            <a:endParaRPr lang="en-IN"/>
          </a:p>
        </p:txBody>
      </p:sp>
      <p:sp>
        <p:nvSpPr>
          <p:cNvPr id="5" name="Footer Placeholder 4">
            <a:extLst>
              <a:ext uri="{FF2B5EF4-FFF2-40B4-BE49-F238E27FC236}">
                <a16:creationId xmlns:a16="http://schemas.microsoft.com/office/drawing/2014/main" id="{5E8D8A5C-1A55-4346-9FE2-17B764F056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109F2E-BE16-4D9A-A327-F554A4B12E5C}"/>
              </a:ext>
            </a:extLst>
          </p:cNvPr>
          <p:cNvSpPr>
            <a:spLocks noGrp="1"/>
          </p:cNvSpPr>
          <p:nvPr>
            <p:ph type="sldNum" sz="quarter" idx="12"/>
          </p:nvPr>
        </p:nvSpPr>
        <p:spPr/>
        <p:txBody>
          <a:bodyPr/>
          <a:lstStyle/>
          <a:p>
            <a:fld id="{11F6E3E1-27F9-4DB4-9802-4D62643F3454}" type="slidenum">
              <a:rPr lang="en-IN" smtClean="0"/>
              <a:t>‹#›</a:t>
            </a:fld>
            <a:endParaRPr lang="en-IN"/>
          </a:p>
        </p:txBody>
      </p:sp>
    </p:spTree>
    <p:extLst>
      <p:ext uri="{BB962C8B-B14F-4D97-AF65-F5344CB8AC3E}">
        <p14:creationId xmlns:p14="http://schemas.microsoft.com/office/powerpoint/2010/main" val="2320316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6A21B9-5A53-4973-8568-D744E8F6DA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39880D-37E0-47CE-A34A-D9F155142DB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EB16B9-D3DB-46B2-8449-3CB40389AACF}"/>
              </a:ext>
            </a:extLst>
          </p:cNvPr>
          <p:cNvSpPr>
            <a:spLocks noGrp="1"/>
          </p:cNvSpPr>
          <p:nvPr>
            <p:ph type="dt" sz="half" idx="10"/>
          </p:nvPr>
        </p:nvSpPr>
        <p:spPr/>
        <p:txBody>
          <a:bodyPr/>
          <a:lstStyle/>
          <a:p>
            <a:fld id="{27F72E7B-E2E7-4991-AABE-CE9596FE36C8}" type="datetimeFigureOut">
              <a:rPr lang="en-IN" smtClean="0"/>
              <a:t>26-07-2021</a:t>
            </a:fld>
            <a:endParaRPr lang="en-IN"/>
          </a:p>
        </p:txBody>
      </p:sp>
      <p:sp>
        <p:nvSpPr>
          <p:cNvPr id="5" name="Footer Placeholder 4">
            <a:extLst>
              <a:ext uri="{FF2B5EF4-FFF2-40B4-BE49-F238E27FC236}">
                <a16:creationId xmlns:a16="http://schemas.microsoft.com/office/drawing/2014/main" id="{73BD200A-5E3C-4CBC-A370-8FC498C3F5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903BAD-9265-4CC1-A360-8052B4105FBC}"/>
              </a:ext>
            </a:extLst>
          </p:cNvPr>
          <p:cNvSpPr>
            <a:spLocks noGrp="1"/>
          </p:cNvSpPr>
          <p:nvPr>
            <p:ph type="sldNum" sz="quarter" idx="12"/>
          </p:nvPr>
        </p:nvSpPr>
        <p:spPr/>
        <p:txBody>
          <a:bodyPr/>
          <a:lstStyle/>
          <a:p>
            <a:fld id="{11F6E3E1-27F9-4DB4-9802-4D62643F3454}" type="slidenum">
              <a:rPr lang="en-IN" smtClean="0"/>
              <a:t>‹#›</a:t>
            </a:fld>
            <a:endParaRPr lang="en-IN"/>
          </a:p>
        </p:txBody>
      </p:sp>
    </p:spTree>
    <p:extLst>
      <p:ext uri="{BB962C8B-B14F-4D97-AF65-F5344CB8AC3E}">
        <p14:creationId xmlns:p14="http://schemas.microsoft.com/office/powerpoint/2010/main" val="3934814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EB56A4-F619-4EB6-BD95-DAD15FBACD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760A55-F6F4-47CE-B88E-C9FB129A3A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B5503F-D571-469D-B7DF-7B14144D72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F72E7B-E2E7-4991-AABE-CE9596FE36C8}" type="datetimeFigureOut">
              <a:rPr lang="en-IN" smtClean="0"/>
              <a:t>26-07-2021</a:t>
            </a:fld>
            <a:endParaRPr lang="en-IN"/>
          </a:p>
        </p:txBody>
      </p:sp>
      <p:sp>
        <p:nvSpPr>
          <p:cNvPr id="5" name="Footer Placeholder 4">
            <a:extLst>
              <a:ext uri="{FF2B5EF4-FFF2-40B4-BE49-F238E27FC236}">
                <a16:creationId xmlns:a16="http://schemas.microsoft.com/office/drawing/2014/main" id="{B92523AC-FBBA-4C4F-8842-13864D2857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0D9F95-50E1-4153-8FCD-B2195E04F9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F6E3E1-27F9-4DB4-9802-4D62643F3454}" type="slidenum">
              <a:rPr lang="en-IN" smtClean="0"/>
              <a:t>‹#›</a:t>
            </a:fld>
            <a:endParaRPr lang="en-IN"/>
          </a:p>
        </p:txBody>
      </p:sp>
      <p:sp>
        <p:nvSpPr>
          <p:cNvPr id="7" name="Rectangle 6"/>
          <p:cNvSpPr/>
          <p:nvPr userDrawn="1"/>
        </p:nvSpPr>
        <p:spPr>
          <a:xfrm>
            <a:off x="10991120" y="5987256"/>
            <a:ext cx="1080960" cy="788988"/>
          </a:xfrm>
          <a:prstGeom prst="rect">
            <a:avLst/>
          </a:prstGeom>
          <a:blipFill dpi="0" rotWithShape="1">
            <a:blip r:embed="rId13">
              <a:alphaModFix amt="84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575171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AF66DF-E932-458B-8629-A6615BF5C2F2}"/>
              </a:ext>
            </a:extLst>
          </p:cNvPr>
          <p:cNvSpPr txBox="1"/>
          <p:nvPr/>
        </p:nvSpPr>
        <p:spPr>
          <a:xfrm>
            <a:off x="381000" y="2906"/>
            <a:ext cx="11430000" cy="1015663"/>
          </a:xfrm>
          <a:prstGeom prst="rect">
            <a:avLst/>
          </a:prstGeom>
          <a:noFill/>
        </p:spPr>
        <p:txBody>
          <a:bodyPr wrap="square" rtlCol="0">
            <a:spAutoFit/>
          </a:bodyPr>
          <a:lstStyle/>
          <a:p>
            <a:pPr algn="ctr"/>
            <a:r>
              <a:rPr lang="en-IN" sz="2800" dirty="0">
                <a:gradFill>
                  <a:gsLst>
                    <a:gs pos="0">
                      <a:srgbClr val="BF30C8"/>
                    </a:gs>
                    <a:gs pos="100000">
                      <a:srgbClr val="0C2B86"/>
                    </a:gs>
                  </a:gsLst>
                  <a:lin ang="2700000" scaled="1"/>
                </a:gradFill>
                <a:latin typeface="Raleway Black" panose="020B0A03030101060003" pitchFamily="34" charset="0"/>
              </a:rPr>
              <a:t>44th series Student Project Programme (SPP): 2020-21</a:t>
            </a:r>
            <a:br>
              <a:rPr lang="en-IN" sz="2800" dirty="0">
                <a:gradFill>
                  <a:gsLst>
                    <a:gs pos="0">
                      <a:srgbClr val="BF30C8"/>
                    </a:gs>
                    <a:gs pos="100000">
                      <a:srgbClr val="0C2B86"/>
                    </a:gs>
                  </a:gsLst>
                  <a:lin ang="2700000" scaled="1"/>
                </a:gradFill>
                <a:latin typeface="Raleway Black" panose="020B0A03030101060003" pitchFamily="34" charset="0"/>
              </a:rPr>
            </a:br>
            <a:r>
              <a:rPr lang="en-IN" sz="3200" dirty="0">
                <a:gradFill>
                  <a:gsLst>
                    <a:gs pos="0">
                      <a:srgbClr val="BF30C8"/>
                    </a:gs>
                    <a:gs pos="100000">
                      <a:srgbClr val="0C2B86"/>
                    </a:gs>
                  </a:gsLst>
                  <a:lin ang="2700000" scaled="1"/>
                </a:gradFill>
                <a:latin typeface="Raleway Black" panose="020B0A03030101060003" pitchFamily="34" charset="0"/>
              </a:rPr>
              <a:t>EVALUATION OF STUDENT PROJECTS</a:t>
            </a:r>
          </a:p>
        </p:txBody>
      </p:sp>
      <p:sp>
        <p:nvSpPr>
          <p:cNvPr id="7" name="TextBox 6">
            <a:extLst>
              <a:ext uri="{FF2B5EF4-FFF2-40B4-BE49-F238E27FC236}">
                <a16:creationId xmlns:a16="http://schemas.microsoft.com/office/drawing/2014/main" id="{4739E66B-7023-4A5B-835C-2E690CE6527D}"/>
              </a:ext>
            </a:extLst>
          </p:cNvPr>
          <p:cNvSpPr txBox="1"/>
          <p:nvPr/>
        </p:nvSpPr>
        <p:spPr>
          <a:xfrm>
            <a:off x="2286001" y="1365514"/>
            <a:ext cx="8771466" cy="523220"/>
          </a:xfrm>
          <a:prstGeom prst="rect">
            <a:avLst/>
          </a:prstGeom>
          <a:noFill/>
        </p:spPr>
        <p:txBody>
          <a:bodyPr wrap="square" rtlCol="0">
            <a:spAutoFit/>
          </a:bodyPr>
          <a:lstStyle/>
          <a:p>
            <a:r>
              <a:rPr lang="en-IN" sz="2800" b="1" dirty="0"/>
              <a:t>AI BASED SMART MIRROR USING RASPBERRRY PI</a:t>
            </a:r>
          </a:p>
        </p:txBody>
      </p:sp>
      <p:sp>
        <p:nvSpPr>
          <p:cNvPr id="37" name="TextBox 36">
            <a:extLst>
              <a:ext uri="{FF2B5EF4-FFF2-40B4-BE49-F238E27FC236}">
                <a16:creationId xmlns:a16="http://schemas.microsoft.com/office/drawing/2014/main" id="{4739E66B-7023-4A5B-835C-2E690CE6527D}"/>
              </a:ext>
            </a:extLst>
          </p:cNvPr>
          <p:cNvSpPr txBox="1"/>
          <p:nvPr/>
        </p:nvSpPr>
        <p:spPr>
          <a:xfrm>
            <a:off x="3635023" y="1967186"/>
            <a:ext cx="6073422" cy="369332"/>
          </a:xfrm>
          <a:prstGeom prst="rect">
            <a:avLst/>
          </a:prstGeom>
          <a:noFill/>
        </p:spPr>
        <p:txBody>
          <a:bodyPr wrap="square" rtlCol="0">
            <a:spAutoFit/>
          </a:bodyPr>
          <a:lstStyle/>
          <a:p>
            <a:pPr algn="l"/>
            <a:r>
              <a:rPr lang="en-IN" b="1" dirty="0"/>
              <a:t>Project reference number : </a:t>
            </a:r>
            <a:r>
              <a:rPr lang="en-US" b="1" i="0" u="none" strike="noStrike" baseline="0" dirty="0">
                <a:solidFill>
                  <a:srgbClr val="000000"/>
                </a:solidFill>
                <a:latin typeface="Times New Roman" panose="02020603050405020304" pitchFamily="18" charset="0"/>
              </a:rPr>
              <a:t>44S_BE_0107 </a:t>
            </a:r>
            <a:endParaRPr lang="en-IN" dirty="0"/>
          </a:p>
        </p:txBody>
      </p:sp>
      <p:sp>
        <p:nvSpPr>
          <p:cNvPr id="38" name="Subtitle 2">
            <a:extLst>
              <a:ext uri="{FF2B5EF4-FFF2-40B4-BE49-F238E27FC236}">
                <a16:creationId xmlns:a16="http://schemas.microsoft.com/office/drawing/2014/main" id="{EFD68F32-6BD6-4F2F-A792-F084C7E96925}"/>
              </a:ext>
            </a:extLst>
          </p:cNvPr>
          <p:cNvSpPr txBox="1">
            <a:spLocks/>
          </p:cNvSpPr>
          <p:nvPr/>
        </p:nvSpPr>
        <p:spPr>
          <a:xfrm>
            <a:off x="1004711" y="2691166"/>
            <a:ext cx="11544300" cy="3170099"/>
          </a:xfrm>
          <a:prstGeom prst="rect">
            <a:avLst/>
          </a:prstGeom>
          <a:noFill/>
        </p:spPr>
        <p:txBody>
          <a:bodyPr wrap="square" rtlCol="0">
            <a:spAutoFit/>
          </a:bodyPr>
          <a:lstStyle>
            <a:defPPr>
              <a:defRPr lang="en-US"/>
            </a:defPPr>
            <a:lvl1pPr>
              <a:defRPr sz="2000" b="1"/>
            </a:lvl1pPr>
          </a:lstStyle>
          <a:p>
            <a:r>
              <a:rPr lang="en-IN" dirty="0"/>
              <a:t>Name of the Students	:	1. Mr. Bharath Surya</a:t>
            </a:r>
          </a:p>
          <a:p>
            <a:r>
              <a:rPr lang="en-IN" dirty="0"/>
              <a:t>				2. Ms. Kavita Sah</a:t>
            </a:r>
          </a:p>
          <a:p>
            <a:r>
              <a:rPr lang="en-IN" dirty="0"/>
              <a:t>				3. Ms. Raksha S	</a:t>
            </a:r>
          </a:p>
          <a:p>
            <a:r>
              <a:rPr lang="en-IN" dirty="0"/>
              <a:t>				4. Ms. Shaun John Philipose</a:t>
            </a:r>
          </a:p>
          <a:p>
            <a:endParaRPr lang="en-IN" dirty="0"/>
          </a:p>
          <a:p>
            <a:pPr algn="l"/>
            <a:r>
              <a:rPr lang="en-IN" dirty="0"/>
              <a:t>Project guide 		:	1. Prof Gunapriya Parthasarathy</a:t>
            </a:r>
            <a:endParaRPr lang="en-US" sz="1800" b="0" i="0" u="none" strike="noStrike" baseline="0" dirty="0">
              <a:solidFill>
                <a:srgbClr val="000000"/>
              </a:solidFill>
            </a:endParaRPr>
          </a:p>
          <a:p>
            <a:r>
              <a:rPr lang="en-IN" dirty="0"/>
              <a:t>				2. Prof Vinod Kumar S</a:t>
            </a:r>
          </a:p>
          <a:p>
            <a:endParaRPr lang="en-IN" dirty="0"/>
          </a:p>
          <a:p>
            <a:r>
              <a:rPr lang="en-IN" dirty="0"/>
              <a:t>Department		:	ELECTRICAL AND ELECTRONICS ENGINEERING</a:t>
            </a:r>
          </a:p>
          <a:p>
            <a:r>
              <a:rPr lang="en-IN" dirty="0"/>
              <a:t>Name of the College	:	NEW HORIZON COLLEGE OF ENGINEERING</a:t>
            </a:r>
          </a:p>
        </p:txBody>
      </p:sp>
      <p:pic>
        <p:nvPicPr>
          <p:cNvPr id="8" name="Picture 2" descr="New Horizon College of Engineering - Official - Home | Facebook">
            <a:extLst>
              <a:ext uri="{FF2B5EF4-FFF2-40B4-BE49-F238E27FC236}">
                <a16:creationId xmlns:a16="http://schemas.microsoft.com/office/drawing/2014/main" id="{0383E2CB-6933-4E21-A52D-7E0EDEC1F2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5744631"/>
            <a:ext cx="1075972" cy="101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7506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AF66DF-E932-458B-8629-A6615BF5C2F2}"/>
              </a:ext>
            </a:extLst>
          </p:cNvPr>
          <p:cNvSpPr txBox="1"/>
          <p:nvPr/>
        </p:nvSpPr>
        <p:spPr>
          <a:xfrm>
            <a:off x="0" y="421168"/>
            <a:ext cx="11430000" cy="584775"/>
          </a:xfrm>
          <a:prstGeom prst="rect">
            <a:avLst/>
          </a:prstGeom>
          <a:noFill/>
        </p:spPr>
        <p:txBody>
          <a:bodyPr wrap="square" rtlCol="0">
            <a:spAutoFit/>
          </a:bodyPr>
          <a:lstStyle/>
          <a:p>
            <a:pPr algn="ctr"/>
            <a:r>
              <a:rPr lang="en-IN" sz="3200" dirty="0">
                <a:gradFill>
                  <a:gsLst>
                    <a:gs pos="0">
                      <a:srgbClr val="BF30C8"/>
                    </a:gs>
                    <a:gs pos="100000">
                      <a:srgbClr val="0C2B86"/>
                    </a:gs>
                  </a:gsLst>
                  <a:lin ang="2700000" scaled="1"/>
                </a:gradFill>
                <a:latin typeface="Raleway Black" panose="020B0A03030101060003" pitchFamily="34" charset="0"/>
              </a:rPr>
              <a:t>Introduction</a:t>
            </a:r>
          </a:p>
        </p:txBody>
      </p:sp>
      <p:sp>
        <p:nvSpPr>
          <p:cNvPr id="38" name="Subtitle 2">
            <a:extLst>
              <a:ext uri="{FF2B5EF4-FFF2-40B4-BE49-F238E27FC236}">
                <a16:creationId xmlns:a16="http://schemas.microsoft.com/office/drawing/2014/main" id="{EFD68F32-6BD6-4F2F-A792-F084C7E96925}"/>
              </a:ext>
            </a:extLst>
          </p:cNvPr>
          <p:cNvSpPr txBox="1">
            <a:spLocks/>
          </p:cNvSpPr>
          <p:nvPr/>
        </p:nvSpPr>
        <p:spPr>
          <a:xfrm>
            <a:off x="414161" y="1255662"/>
            <a:ext cx="11606389" cy="4093428"/>
          </a:xfrm>
          <a:prstGeom prst="rect">
            <a:avLst/>
          </a:prstGeom>
          <a:noFill/>
        </p:spPr>
        <p:txBody>
          <a:bodyPr wrap="square" rtlCol="0">
            <a:spAutoFit/>
          </a:bodyPr>
          <a:lstStyle>
            <a:defPPr>
              <a:defRPr lang="en-US"/>
            </a:defPPr>
            <a:lvl1pPr>
              <a:defRPr sz="2000" b="1"/>
            </a:lvl1pPr>
          </a:lstStyle>
          <a:p>
            <a:pPr algn="just">
              <a:buFont typeface="Wingdings" panose="05000000000000000000" pitchFamily="2" charset="2"/>
              <a:buChar char="v"/>
            </a:pPr>
            <a:r>
              <a:rPr lang="en-US" sz="1800" b="0" dirty="0">
                <a:ea typeface="Verdana" panose="020B0604030504040204" pitchFamily="34" charset="0"/>
              </a:rPr>
              <a:t>A </a:t>
            </a:r>
            <a:r>
              <a:rPr lang="en-US" b="0" dirty="0">
                <a:ea typeface="Verdana" panose="020B0604030504040204" pitchFamily="34" charset="0"/>
              </a:rPr>
              <a:t>smart mirror is basically a mirror with a screen behind it .That screen can be an Android tablet or a computer monitor.</a:t>
            </a:r>
            <a:r>
              <a:rPr lang="en-US" b="0" dirty="0"/>
              <a:t> </a:t>
            </a:r>
          </a:p>
          <a:p>
            <a:pPr algn="just">
              <a:buFont typeface="Wingdings" panose="05000000000000000000" pitchFamily="2" charset="2"/>
              <a:buChar char="v"/>
            </a:pPr>
            <a:r>
              <a:rPr lang="en-US" b="0" dirty="0"/>
              <a:t>Basically, the mirror is looks like normal mirror but when someone stand in front of it the scene changes. The mirror provides a functional, user friendly and interactive UI to its user for accessing their social sites, messengers, etc. It has widgets for displaying the current whether conditions, Time, Events, Latest news headlines </a:t>
            </a:r>
          </a:p>
          <a:p>
            <a:pPr algn="just">
              <a:buFont typeface="Wingdings" panose="05000000000000000000" pitchFamily="2" charset="2"/>
              <a:buChar char="v"/>
            </a:pPr>
            <a:r>
              <a:rPr lang="en-US" b="0" dirty="0"/>
              <a:t>The Smart Mirror would help in developing smart houses with embedded artificial intelligence, as well as finding its applications in industries. Switching home appliances becomes easy with mirror. Virtual dressing, a smart way of having trials with your fashion sense make things quite easy in malls. Having such intellectual mirror will only surge the beauty of home. The raspberry pi is programmed using python and connects to a monitor with inbuilt speaker so as to provide an onscreen interface and voice assistance as well</a:t>
            </a:r>
          </a:p>
          <a:p>
            <a:pPr algn="just">
              <a:buFont typeface="Wingdings" panose="05000000000000000000" pitchFamily="2" charset="2"/>
              <a:buChar char="v"/>
            </a:pPr>
            <a:r>
              <a:rPr lang="en-US" b="0" dirty="0">
                <a:ea typeface="Verdana" panose="020B0604030504040204" pitchFamily="34" charset="0"/>
              </a:rPr>
              <a:t>Our project aims at exploring other fields where this technology can be used. It aims at including this technology in a mirror, because in general people spend a considerable amount of time in front of a mirror.</a:t>
            </a:r>
          </a:p>
        </p:txBody>
      </p:sp>
      <p:pic>
        <p:nvPicPr>
          <p:cNvPr id="5" name="Picture 2" descr="New Horizon College of Engineering - Official - Home | Facebook">
            <a:extLst>
              <a:ext uri="{FF2B5EF4-FFF2-40B4-BE49-F238E27FC236}">
                <a16:creationId xmlns:a16="http://schemas.microsoft.com/office/drawing/2014/main" id="{8F606F25-062B-465E-A23F-40163EBAB8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4161" y="5848527"/>
            <a:ext cx="1075972" cy="101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47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AF66DF-E932-458B-8629-A6615BF5C2F2}"/>
              </a:ext>
            </a:extLst>
          </p:cNvPr>
          <p:cNvSpPr txBox="1"/>
          <p:nvPr/>
        </p:nvSpPr>
        <p:spPr>
          <a:xfrm>
            <a:off x="381000" y="464081"/>
            <a:ext cx="11430000" cy="584775"/>
          </a:xfrm>
          <a:prstGeom prst="rect">
            <a:avLst/>
          </a:prstGeom>
          <a:noFill/>
        </p:spPr>
        <p:txBody>
          <a:bodyPr wrap="square" rtlCol="0">
            <a:spAutoFit/>
          </a:bodyPr>
          <a:lstStyle/>
          <a:p>
            <a:pPr algn="ctr"/>
            <a:r>
              <a:rPr lang="en-IN" sz="3200" dirty="0">
                <a:gradFill>
                  <a:gsLst>
                    <a:gs pos="0">
                      <a:srgbClr val="BF30C8"/>
                    </a:gs>
                    <a:gs pos="100000">
                      <a:srgbClr val="0C2B86"/>
                    </a:gs>
                  </a:gsLst>
                  <a:lin ang="2700000" scaled="1"/>
                </a:gradFill>
                <a:latin typeface="Raleway Black" panose="020B0A03030101060003" pitchFamily="34" charset="0"/>
              </a:rPr>
              <a:t>Objectives </a:t>
            </a:r>
          </a:p>
        </p:txBody>
      </p:sp>
      <p:sp>
        <p:nvSpPr>
          <p:cNvPr id="38" name="Subtitle 2">
            <a:extLst>
              <a:ext uri="{FF2B5EF4-FFF2-40B4-BE49-F238E27FC236}">
                <a16:creationId xmlns:a16="http://schemas.microsoft.com/office/drawing/2014/main" id="{EFD68F32-6BD6-4F2F-A792-F084C7E96925}"/>
              </a:ext>
            </a:extLst>
          </p:cNvPr>
          <p:cNvSpPr txBox="1">
            <a:spLocks/>
          </p:cNvSpPr>
          <p:nvPr/>
        </p:nvSpPr>
        <p:spPr>
          <a:xfrm>
            <a:off x="647700" y="1530101"/>
            <a:ext cx="11163300" cy="2308324"/>
          </a:xfrm>
          <a:prstGeom prst="rect">
            <a:avLst/>
          </a:prstGeom>
          <a:noFill/>
        </p:spPr>
        <p:txBody>
          <a:bodyPr wrap="square" rtlCol="0">
            <a:spAutoFit/>
          </a:bodyPr>
          <a:lstStyle>
            <a:defPPr>
              <a:defRPr lang="en-US"/>
            </a:defPPr>
            <a:lvl1pPr>
              <a:defRPr sz="2000" b="1"/>
            </a:lvl1pPr>
          </a:lstStyle>
          <a:p>
            <a:pPr algn="just"/>
            <a:r>
              <a:rPr lang="en-US" sz="1800" b="0" i="0" u="none" strike="noStrike" baseline="0" dirty="0">
                <a:solidFill>
                  <a:srgbClr val="000000"/>
                </a:solidFill>
                <a:latin typeface="Times New Roman" panose="02020603050405020304" pitchFamily="18" charset="0"/>
              </a:rPr>
              <a:t>The objective of the Smart mirror is to give a passageway to a client to gather practical data that could influence the course of their everyday life. We have subbed the requirement for TV or radio through portable stages presently go to the period that will oust even telephones. The idea of the smart mirror is presented with regards to the worldwide studies that guarantee men spend approx. 3 hours of the week before the mirror, establish the framework for a superior innovatively progressed framework. The objective clients are older and in an unexpected way abled client as this open up another range for them, making signal investigation </a:t>
            </a:r>
          </a:p>
          <a:p>
            <a:pPr algn="just"/>
            <a:r>
              <a:rPr lang="en-US" sz="1800" b="0" i="0" u="none" strike="noStrike" baseline="0" dirty="0">
                <a:solidFill>
                  <a:srgbClr val="000000"/>
                </a:solidFill>
                <a:latin typeface="Times New Roman" panose="02020603050405020304" pitchFamily="18" charset="0"/>
              </a:rPr>
              <a:t>one of the modules last executions. The goal of the smart mirror is to provide an access point for a user to accumulate viable information that could affect the course of their day-to-day life. </a:t>
            </a:r>
            <a:endParaRPr lang="en-IN" sz="2400" dirty="0"/>
          </a:p>
        </p:txBody>
      </p:sp>
      <p:pic>
        <p:nvPicPr>
          <p:cNvPr id="5" name="Picture 2" descr="New Horizon College of Engineering - Official - Home | Facebook">
            <a:extLst>
              <a:ext uri="{FF2B5EF4-FFF2-40B4-BE49-F238E27FC236}">
                <a16:creationId xmlns:a16="http://schemas.microsoft.com/office/drawing/2014/main" id="{4ECD69F4-4858-4F44-990B-DC4FC45CFB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3184" y="5838472"/>
            <a:ext cx="1075972" cy="101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9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AF66DF-E932-458B-8629-A6615BF5C2F2}"/>
              </a:ext>
            </a:extLst>
          </p:cNvPr>
          <p:cNvSpPr txBox="1"/>
          <p:nvPr/>
        </p:nvSpPr>
        <p:spPr>
          <a:xfrm>
            <a:off x="381000" y="136256"/>
            <a:ext cx="11430000" cy="584775"/>
          </a:xfrm>
          <a:prstGeom prst="rect">
            <a:avLst/>
          </a:prstGeom>
          <a:noFill/>
        </p:spPr>
        <p:txBody>
          <a:bodyPr wrap="square" rtlCol="0">
            <a:spAutoFit/>
          </a:bodyPr>
          <a:lstStyle/>
          <a:p>
            <a:pPr algn="ctr"/>
            <a:r>
              <a:rPr lang="en-IN" sz="3200" dirty="0">
                <a:gradFill>
                  <a:gsLst>
                    <a:gs pos="0">
                      <a:srgbClr val="BF30C8"/>
                    </a:gs>
                    <a:gs pos="100000">
                      <a:srgbClr val="0C2B86"/>
                    </a:gs>
                  </a:gsLst>
                  <a:lin ang="2700000" scaled="1"/>
                </a:gradFill>
                <a:latin typeface="Raleway Black" panose="020B0A03030101060003" pitchFamily="34" charset="0"/>
              </a:rPr>
              <a:t>Methodology</a:t>
            </a:r>
            <a:endParaRPr lang="en-IN" sz="2000" dirty="0">
              <a:gradFill>
                <a:gsLst>
                  <a:gs pos="0">
                    <a:srgbClr val="BF30C8"/>
                  </a:gs>
                  <a:gs pos="100000">
                    <a:srgbClr val="0C2B86"/>
                  </a:gs>
                </a:gsLst>
                <a:lin ang="2700000" scaled="1"/>
              </a:gradFill>
              <a:latin typeface="Raleway Black" panose="020B0A03030101060003" pitchFamily="34" charset="0"/>
            </a:endParaRPr>
          </a:p>
        </p:txBody>
      </p:sp>
      <p:sp>
        <p:nvSpPr>
          <p:cNvPr id="38" name="Subtitle 2">
            <a:extLst>
              <a:ext uri="{FF2B5EF4-FFF2-40B4-BE49-F238E27FC236}">
                <a16:creationId xmlns:a16="http://schemas.microsoft.com/office/drawing/2014/main" id="{EFD68F32-6BD6-4F2F-A792-F084C7E96925}"/>
              </a:ext>
            </a:extLst>
          </p:cNvPr>
          <p:cNvSpPr txBox="1">
            <a:spLocks/>
          </p:cNvSpPr>
          <p:nvPr/>
        </p:nvSpPr>
        <p:spPr>
          <a:xfrm>
            <a:off x="485775" y="1399999"/>
            <a:ext cx="11544300" cy="830997"/>
          </a:xfrm>
          <a:prstGeom prst="rect">
            <a:avLst/>
          </a:prstGeom>
          <a:noFill/>
        </p:spPr>
        <p:txBody>
          <a:bodyPr wrap="square" rtlCol="0">
            <a:spAutoFit/>
          </a:bodyPr>
          <a:lstStyle>
            <a:defPPr>
              <a:defRPr lang="en-US"/>
            </a:defPPr>
            <a:lvl1pPr>
              <a:defRPr sz="2000" b="1"/>
            </a:lvl1pPr>
          </a:lstStyle>
          <a:p>
            <a:endParaRPr lang="en-IN" sz="2400" dirty="0"/>
          </a:p>
          <a:p>
            <a:endParaRPr lang="en-IN" sz="2400" dirty="0"/>
          </a:p>
        </p:txBody>
      </p:sp>
      <p:pic>
        <p:nvPicPr>
          <p:cNvPr id="5" name="Picture 2" descr="New Horizon College of Engineering - Official - Home | Facebook">
            <a:extLst>
              <a:ext uri="{FF2B5EF4-FFF2-40B4-BE49-F238E27FC236}">
                <a16:creationId xmlns:a16="http://schemas.microsoft.com/office/drawing/2014/main" id="{2B291F1C-7AFA-4E04-8EFB-7037275CD2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5744631"/>
            <a:ext cx="1075972" cy="101952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17A2EDE-0AEB-471B-A7E1-666F227D702C}"/>
              </a:ext>
            </a:extLst>
          </p:cNvPr>
          <p:cNvSpPr txBox="1"/>
          <p:nvPr/>
        </p:nvSpPr>
        <p:spPr>
          <a:xfrm>
            <a:off x="897467" y="938334"/>
            <a:ext cx="10397066" cy="2585323"/>
          </a:xfrm>
          <a:prstGeom prst="rect">
            <a:avLst/>
          </a:prstGeom>
          <a:noFill/>
        </p:spPr>
        <p:txBody>
          <a:bodyPr wrap="square">
            <a:spAutoFit/>
          </a:bodyPr>
          <a:lstStyle/>
          <a:p>
            <a:pPr algn="just"/>
            <a:r>
              <a:rPr lang="en-US" sz="1800" b="0" i="0" u="none" strike="noStrike" baseline="0" dirty="0">
                <a:solidFill>
                  <a:srgbClr val="000000"/>
                </a:solidFill>
                <a:latin typeface="Times New Roman" panose="02020603050405020304" pitchFamily="18" charset="0"/>
              </a:rPr>
              <a:t>The proposed framework is to plan an intuitive advanced brilliant mirror with man-made consciousness utilizing Raspberry Pi. In the proposed framework, the capacity of the framework to recognize the client and react as far as the main job, joining the hypothesis of man-made brainpower. Intelligent registering, with remotely associated inserted gadgets that are being utilized in different everyday exercises. In light of this innovation, numerous gadgets/items are currently arising and with this knowledge it is giving agreeable, secure and helpful individual administrations all over. The venture targets making a keen framework for clients where it perceives the client utilizing mediums like OpenCV. The mirror will perceive client's face and it will be prepared utilizing Raspberry Pi and show client's feeds. Client's test pictures will be put away in data set. </a:t>
            </a:r>
          </a:p>
          <a:p>
            <a:endParaRPr lang="en-US" dirty="0"/>
          </a:p>
        </p:txBody>
      </p:sp>
      <p:pic>
        <p:nvPicPr>
          <p:cNvPr id="8" name="Picture 7">
            <a:extLst>
              <a:ext uri="{FF2B5EF4-FFF2-40B4-BE49-F238E27FC236}">
                <a16:creationId xmlns:a16="http://schemas.microsoft.com/office/drawing/2014/main" id="{1592CE82-5B3B-4779-BFB7-61BBF86FBE10}"/>
              </a:ext>
            </a:extLst>
          </p:cNvPr>
          <p:cNvPicPr/>
          <p:nvPr/>
        </p:nvPicPr>
        <p:blipFill>
          <a:blip r:embed="rId3"/>
          <a:stretch>
            <a:fillRect/>
          </a:stretch>
        </p:blipFill>
        <p:spPr>
          <a:xfrm>
            <a:off x="2502041" y="3322337"/>
            <a:ext cx="7605132" cy="3347124"/>
          </a:xfrm>
          <a:prstGeom prst="rect">
            <a:avLst/>
          </a:prstGeom>
        </p:spPr>
      </p:pic>
    </p:spTree>
    <p:extLst>
      <p:ext uri="{BB962C8B-B14F-4D97-AF65-F5344CB8AC3E}">
        <p14:creationId xmlns:p14="http://schemas.microsoft.com/office/powerpoint/2010/main" val="1273485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AF66DF-E932-458B-8629-A6615BF5C2F2}"/>
              </a:ext>
            </a:extLst>
          </p:cNvPr>
          <p:cNvSpPr txBox="1"/>
          <p:nvPr/>
        </p:nvSpPr>
        <p:spPr>
          <a:xfrm>
            <a:off x="381000" y="136256"/>
            <a:ext cx="11430000" cy="584775"/>
          </a:xfrm>
          <a:prstGeom prst="rect">
            <a:avLst/>
          </a:prstGeom>
          <a:noFill/>
        </p:spPr>
        <p:txBody>
          <a:bodyPr wrap="square" rtlCol="0">
            <a:spAutoFit/>
          </a:bodyPr>
          <a:lstStyle/>
          <a:p>
            <a:pPr algn="ctr"/>
            <a:r>
              <a:rPr lang="en-IN" sz="3200" dirty="0">
                <a:gradFill>
                  <a:gsLst>
                    <a:gs pos="0">
                      <a:srgbClr val="BF30C8"/>
                    </a:gs>
                    <a:gs pos="100000">
                      <a:srgbClr val="0C2B86"/>
                    </a:gs>
                  </a:gsLst>
                  <a:lin ang="2700000" scaled="1"/>
                </a:gradFill>
                <a:latin typeface="Raleway Black" panose="020B0A03030101060003" pitchFamily="34" charset="0"/>
              </a:rPr>
              <a:t>Implementation</a:t>
            </a:r>
          </a:p>
        </p:txBody>
      </p:sp>
      <p:sp>
        <p:nvSpPr>
          <p:cNvPr id="38" name="Subtitle 2">
            <a:extLst>
              <a:ext uri="{FF2B5EF4-FFF2-40B4-BE49-F238E27FC236}">
                <a16:creationId xmlns:a16="http://schemas.microsoft.com/office/drawing/2014/main" id="{EFD68F32-6BD6-4F2F-A792-F084C7E96925}"/>
              </a:ext>
            </a:extLst>
          </p:cNvPr>
          <p:cNvSpPr txBox="1">
            <a:spLocks/>
          </p:cNvSpPr>
          <p:nvPr/>
        </p:nvSpPr>
        <p:spPr>
          <a:xfrm>
            <a:off x="485775" y="1399999"/>
            <a:ext cx="11544300" cy="7063472"/>
          </a:xfrm>
          <a:prstGeom prst="rect">
            <a:avLst/>
          </a:prstGeom>
          <a:noFill/>
        </p:spPr>
        <p:txBody>
          <a:bodyPr wrap="square" rtlCol="0">
            <a:spAutoFit/>
          </a:bodyPr>
          <a:lstStyle>
            <a:defPPr>
              <a:defRPr lang="en-US"/>
            </a:defPPr>
            <a:lvl1pPr>
              <a:defRPr sz="2000" b="1"/>
            </a:lvl1pPr>
          </a:lstStyle>
          <a:p>
            <a:pPr>
              <a:lnSpc>
                <a:spcPct val="150000"/>
              </a:lnSpc>
            </a:pPr>
            <a:r>
              <a:rPr lang="en-US" sz="1800" b="1" i="0" dirty="0">
                <a:solidFill>
                  <a:schemeClr val="accent2">
                    <a:lumMod val="60000"/>
                    <a:lumOff val="40000"/>
                  </a:schemeClr>
                </a:solidFill>
                <a:effectLst/>
                <a:latin typeface="Times New Roman" panose="02020603050405020304" pitchFamily="18" charset="0"/>
                <a:ea typeface="Verdana" panose="020B0604030504040204" pitchFamily="34" charset="0"/>
                <a:cs typeface="Times New Roman" panose="02020603050405020304" pitchFamily="18" charset="0"/>
              </a:rPr>
              <a:t>Setting Up the Raspberry Pi - </a:t>
            </a:r>
            <a:r>
              <a:rPr lang="en-US" sz="1800" b="0" i="0" dirty="0">
                <a:effectLst/>
                <a:latin typeface="Times New Roman" panose="02020603050405020304" pitchFamily="18" charset="0"/>
                <a:ea typeface="Verdana" panose="020B0604030504040204" pitchFamily="34" charset="0"/>
                <a:cs typeface="Times New Roman" panose="02020603050405020304" pitchFamily="18" charset="0"/>
              </a:rPr>
              <a:t>The operating system "Raspbian" has to be installed on the micro SD card, plug in the keyboard and mouse to the Pi and attach the HDMI cable to the monitor that is in use. Boot into Raspbian and connect to the internet. </a:t>
            </a:r>
          </a:p>
          <a:p>
            <a:pPr marL="0" indent="0" algn="just">
              <a:lnSpc>
                <a:spcPct val="150000"/>
              </a:lnSpc>
              <a:buNone/>
            </a:pPr>
            <a:r>
              <a:rPr lang="en-US" sz="1800" b="0" i="0" dirty="0">
                <a:effectLst/>
                <a:latin typeface="Times New Roman" panose="02020603050405020304" pitchFamily="18" charset="0"/>
                <a:ea typeface="Verdana" panose="020B0604030504040204" pitchFamily="34" charset="0"/>
                <a:cs typeface="Times New Roman" panose="02020603050405020304" pitchFamily="18" charset="0"/>
              </a:rPr>
              <a:t>   Since it is most likely that Raspberry Pi smart mirror is going to be hung on a wall somewhere,    </a:t>
            </a:r>
            <a:r>
              <a:rPr lang="en-US" sz="1800" dirty="0">
                <a:latin typeface="Times New Roman" panose="02020603050405020304" pitchFamily="18" charset="0"/>
                <a:ea typeface="Verdana" panose="020B0604030504040204" pitchFamily="34" charset="0"/>
                <a:cs typeface="Times New Roman" panose="02020603050405020304" pitchFamily="18" charset="0"/>
              </a:rPr>
              <a:t>it is better to be </a:t>
            </a:r>
            <a:r>
              <a:rPr lang="en-US" sz="1800" b="0" i="0" dirty="0">
                <a:effectLst/>
                <a:latin typeface="Times New Roman" panose="02020603050405020304" pitchFamily="18" charset="0"/>
                <a:ea typeface="Verdana" panose="020B0604030504040204" pitchFamily="34" charset="0"/>
                <a:cs typeface="Times New Roman" panose="02020603050405020304" pitchFamily="18" charset="0"/>
              </a:rPr>
              <a:t>connected to  Wi-Fi. </a:t>
            </a:r>
          </a:p>
          <a:p>
            <a:pPr algn="just">
              <a:lnSpc>
                <a:spcPct val="150000"/>
              </a:lnSpc>
            </a:pPr>
            <a:r>
              <a:rPr lang="en-US" sz="1800" b="1" dirty="0">
                <a:solidFill>
                  <a:schemeClr val="accent2">
                    <a:lumMod val="60000"/>
                    <a:lumOff val="40000"/>
                  </a:schemeClr>
                </a:solidFill>
                <a:effectLst/>
                <a:latin typeface="Times New Roman" panose="02020603050405020304" pitchFamily="18" charset="0"/>
                <a:ea typeface="Verdana" panose="020B0604030504040204" pitchFamily="34" charset="0"/>
                <a:cs typeface="Times New Roman" panose="02020603050405020304" pitchFamily="18" charset="0"/>
              </a:rPr>
              <a:t>Magic Mirror Software Setup- </a:t>
            </a:r>
            <a:r>
              <a:rPr lang="en-US" sz="1800" dirty="0">
                <a:effectLst/>
                <a:latin typeface="Times New Roman" panose="02020603050405020304" pitchFamily="18" charset="0"/>
                <a:ea typeface="Verdana" panose="020B0604030504040204" pitchFamily="34" charset="0"/>
                <a:cs typeface="Times New Roman" panose="02020603050405020304" pitchFamily="18" charset="0"/>
              </a:rPr>
              <a:t>Now, </a:t>
            </a:r>
            <a:r>
              <a:rPr lang="en-US" sz="1800" dirty="0">
                <a:latin typeface="Times New Roman" panose="02020603050405020304" pitchFamily="18" charset="0"/>
                <a:ea typeface="Verdana" panose="020B0604030504040204" pitchFamily="34" charset="0"/>
                <a:cs typeface="Times New Roman" panose="02020603050405020304" pitchFamily="18" charset="0"/>
              </a:rPr>
              <a:t>t</a:t>
            </a:r>
            <a:r>
              <a:rPr lang="en-US" sz="1800" i="0" dirty="0">
                <a:effectLst/>
                <a:latin typeface="Times New Roman" panose="02020603050405020304" pitchFamily="18" charset="0"/>
                <a:ea typeface="Verdana" panose="020B0604030504040204" pitchFamily="34" charset="0"/>
                <a:cs typeface="Times New Roman" panose="02020603050405020304" pitchFamily="18" charset="0"/>
              </a:rPr>
              <a:t>here are </a:t>
            </a:r>
            <a:r>
              <a:rPr lang="en-US" sz="1800" b="0" i="0" dirty="0">
                <a:effectLst/>
                <a:latin typeface="Times New Roman" panose="02020603050405020304" pitchFamily="18" charset="0"/>
                <a:ea typeface="Verdana" panose="020B0604030504040204" pitchFamily="34" charset="0"/>
                <a:cs typeface="Times New Roman" panose="02020603050405020304" pitchFamily="18" charset="0"/>
              </a:rPr>
              <a:t>two ways to install the latest version of Magic Mirror</a:t>
            </a:r>
            <a:r>
              <a:rPr lang="en-US" sz="1800" dirty="0">
                <a:latin typeface="Times New Roman" panose="02020603050405020304" pitchFamily="18" charset="0"/>
                <a:ea typeface="Verdana" panose="020B0604030504040204" pitchFamily="34" charset="0"/>
                <a:cs typeface="Times New Roman" panose="02020603050405020304" pitchFamily="18" charset="0"/>
              </a:rPr>
              <a:t>, </a:t>
            </a:r>
            <a:r>
              <a:rPr lang="en-US" sz="1800" b="0" i="0" dirty="0">
                <a:effectLst/>
                <a:latin typeface="Times New Roman" panose="02020603050405020304" pitchFamily="18" charset="0"/>
                <a:ea typeface="Verdana" panose="020B0604030504040204" pitchFamily="34" charset="0"/>
                <a:cs typeface="Times New Roman" panose="02020603050405020304" pitchFamily="18" charset="0"/>
              </a:rPr>
              <a:t>either manually or using an automatic installation script.</a:t>
            </a:r>
          </a:p>
          <a:p>
            <a:pPr algn="just">
              <a:lnSpc>
                <a:spcPct val="150000"/>
              </a:lnSpc>
            </a:pPr>
            <a:r>
              <a:rPr lang="en-US" sz="1800" b="1" dirty="0">
                <a:solidFill>
                  <a:schemeClr val="accent2">
                    <a:lumMod val="60000"/>
                    <a:lumOff val="40000"/>
                  </a:schemeClr>
                </a:solidFill>
                <a:effectLst/>
                <a:latin typeface="Times New Roman" panose="02020603050405020304" pitchFamily="18" charset="0"/>
                <a:ea typeface="Verdana" panose="020B0604030504040204" pitchFamily="34" charset="0"/>
                <a:cs typeface="Times New Roman" panose="02020603050405020304" pitchFamily="18" charset="0"/>
              </a:rPr>
              <a:t>Installing Magic Mirror on Raspberry Pi - </a:t>
            </a:r>
            <a:r>
              <a:rPr lang="en-US" sz="1800" b="0" i="0" dirty="0">
                <a:effectLst/>
                <a:latin typeface="Times New Roman" panose="02020603050405020304" pitchFamily="18" charset="0"/>
                <a:ea typeface="Verdana" panose="020B0604030504040204" pitchFamily="34" charset="0"/>
                <a:cs typeface="Times New Roman" panose="02020603050405020304" pitchFamily="18" charset="0"/>
              </a:rPr>
              <a:t>Once the operating system "Raspbian" is installed on the micro SD card, plug it </a:t>
            </a:r>
            <a:r>
              <a:rPr lang="en-US" sz="1800" dirty="0">
                <a:latin typeface="Times New Roman" panose="02020603050405020304" pitchFamily="18" charset="0"/>
                <a:ea typeface="Verdana" panose="020B0604030504040204" pitchFamily="34" charset="0"/>
                <a:cs typeface="Times New Roman" panose="02020603050405020304" pitchFamily="18" charset="0"/>
              </a:rPr>
              <a:t>with k</a:t>
            </a:r>
            <a:r>
              <a:rPr lang="en-US" sz="1800" b="0" i="0" dirty="0">
                <a:effectLst/>
                <a:latin typeface="Times New Roman" panose="02020603050405020304" pitchFamily="18" charset="0"/>
                <a:ea typeface="Verdana" panose="020B0604030504040204" pitchFamily="34" charset="0"/>
                <a:cs typeface="Times New Roman" panose="02020603050405020304" pitchFamily="18" charset="0"/>
              </a:rPr>
              <a:t>eyboard and mouse to the Pi and attach the HDMI cable to the monitor.</a:t>
            </a:r>
          </a:p>
          <a:p>
            <a:pPr marL="0" indent="0" algn="just">
              <a:lnSpc>
                <a:spcPct val="150000"/>
              </a:lnSpc>
              <a:buNone/>
            </a:pPr>
            <a:r>
              <a:rPr lang="en-US" sz="1800" b="0" i="0" dirty="0">
                <a:effectLst/>
                <a:latin typeface="Times New Roman" panose="02020603050405020304" pitchFamily="18" charset="0"/>
                <a:ea typeface="Verdana" panose="020B0604030504040204" pitchFamily="34" charset="0"/>
                <a:cs typeface="Times New Roman" panose="02020603050405020304" pitchFamily="18" charset="0"/>
              </a:rPr>
              <a:t>   After the system boots up, begin configuring the Pi to the required location. After all the   location is configured. Just save and reboot the Pi. Now, then the programming begins!</a:t>
            </a:r>
            <a:endParaRPr lang="en-US" sz="1800" b="1" dirty="0">
              <a:effectLst/>
              <a:latin typeface="Times New Roman" panose="02020603050405020304" pitchFamily="18" charset="0"/>
              <a:ea typeface="Verdana" panose="020B0604030504040204" pitchFamily="34" charset="0"/>
              <a:cs typeface="Times New Roman" panose="02020603050405020304" pitchFamily="18" charset="0"/>
            </a:endParaRPr>
          </a:p>
          <a:p>
            <a:endParaRPr lang="en-IN" sz="1800" dirty="0"/>
          </a:p>
          <a:p>
            <a:r>
              <a:rPr lang="en-IN" sz="1800" dirty="0"/>
              <a:t>		</a:t>
            </a:r>
          </a:p>
          <a:p>
            <a:endParaRPr lang="en-IN" sz="1800" dirty="0"/>
          </a:p>
          <a:p>
            <a:r>
              <a:rPr lang="en-IN" sz="1800" dirty="0"/>
              <a:t>		</a:t>
            </a:r>
          </a:p>
          <a:p>
            <a:endParaRPr lang="en-IN" sz="1800" dirty="0"/>
          </a:p>
          <a:p>
            <a:r>
              <a:rPr lang="en-IN" sz="1800" dirty="0"/>
              <a:t>		</a:t>
            </a:r>
          </a:p>
          <a:p>
            <a:endParaRPr lang="en-IN" sz="1800" dirty="0"/>
          </a:p>
          <a:p>
            <a:r>
              <a:rPr lang="en-IN" sz="1800" dirty="0"/>
              <a:t>	</a:t>
            </a:r>
          </a:p>
        </p:txBody>
      </p:sp>
      <p:pic>
        <p:nvPicPr>
          <p:cNvPr id="5" name="Picture 2" descr="New Horizon College of Engineering - Official - Home | Facebook">
            <a:extLst>
              <a:ext uri="{FF2B5EF4-FFF2-40B4-BE49-F238E27FC236}">
                <a16:creationId xmlns:a16="http://schemas.microsoft.com/office/drawing/2014/main" id="{EBB48DB5-8860-47B4-B9DC-439BDB4E795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11" y="6005888"/>
            <a:ext cx="1075972" cy="101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485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AF66DF-E932-458B-8629-A6615BF5C2F2}"/>
              </a:ext>
            </a:extLst>
          </p:cNvPr>
          <p:cNvSpPr txBox="1"/>
          <p:nvPr/>
        </p:nvSpPr>
        <p:spPr>
          <a:xfrm>
            <a:off x="381000" y="136256"/>
            <a:ext cx="11430000" cy="584775"/>
          </a:xfrm>
          <a:prstGeom prst="rect">
            <a:avLst/>
          </a:prstGeom>
          <a:noFill/>
        </p:spPr>
        <p:txBody>
          <a:bodyPr wrap="square" rtlCol="0">
            <a:spAutoFit/>
          </a:bodyPr>
          <a:lstStyle/>
          <a:p>
            <a:pPr algn="ctr"/>
            <a:r>
              <a:rPr lang="en-IN" sz="3200" dirty="0">
                <a:gradFill>
                  <a:gsLst>
                    <a:gs pos="0">
                      <a:srgbClr val="BF30C8"/>
                    </a:gs>
                    <a:gs pos="100000">
                      <a:srgbClr val="0C2B86"/>
                    </a:gs>
                  </a:gsLst>
                  <a:lin ang="2700000" scaled="1"/>
                </a:gradFill>
                <a:latin typeface="Raleway Black" panose="020B0A03030101060003" pitchFamily="34" charset="0"/>
              </a:rPr>
              <a:t>Implementation</a:t>
            </a:r>
          </a:p>
        </p:txBody>
      </p:sp>
      <p:sp>
        <p:nvSpPr>
          <p:cNvPr id="38" name="Subtitle 2">
            <a:extLst>
              <a:ext uri="{FF2B5EF4-FFF2-40B4-BE49-F238E27FC236}">
                <a16:creationId xmlns:a16="http://schemas.microsoft.com/office/drawing/2014/main" id="{EFD68F32-6BD6-4F2F-A792-F084C7E96925}"/>
              </a:ext>
            </a:extLst>
          </p:cNvPr>
          <p:cNvSpPr txBox="1">
            <a:spLocks/>
          </p:cNvSpPr>
          <p:nvPr/>
        </p:nvSpPr>
        <p:spPr>
          <a:xfrm>
            <a:off x="579081" y="942799"/>
            <a:ext cx="11544300" cy="6878806"/>
          </a:xfrm>
          <a:prstGeom prst="rect">
            <a:avLst/>
          </a:prstGeom>
          <a:noFill/>
        </p:spPr>
        <p:txBody>
          <a:bodyPr wrap="square" rtlCol="0">
            <a:spAutoFit/>
          </a:bodyPr>
          <a:lstStyle>
            <a:defPPr>
              <a:defRPr lang="en-US"/>
            </a:defPPr>
            <a:lvl1pPr>
              <a:defRPr sz="2000" b="1"/>
            </a:lvl1pPr>
          </a:lstStyle>
          <a:p>
            <a:pPr>
              <a:lnSpc>
                <a:spcPct val="150000"/>
              </a:lnSpc>
            </a:pPr>
            <a:r>
              <a:rPr lang="en-US" sz="1800" i="0" dirty="0">
                <a:solidFill>
                  <a:schemeClr val="accent2">
                    <a:lumMod val="60000"/>
                    <a:lumOff val="40000"/>
                  </a:schemeClr>
                </a:solidFill>
                <a:effectLst/>
                <a:latin typeface="Times New Roman" panose="02020603050405020304" pitchFamily="18" charset="0"/>
                <a:ea typeface="Verdana" panose="020B0604030504040204" pitchFamily="34" charset="0"/>
                <a:cs typeface="Times New Roman" panose="02020603050405020304" pitchFamily="18" charset="0"/>
              </a:rPr>
              <a:t>Magic Mirror- </a:t>
            </a:r>
            <a:r>
              <a:rPr lang="en-US" sz="1800" i="0" dirty="0">
                <a:effectLst/>
                <a:latin typeface="Times New Roman" panose="02020603050405020304" pitchFamily="18" charset="0"/>
                <a:ea typeface="Verdana" panose="020B0604030504040204" pitchFamily="34" charset="0"/>
                <a:cs typeface="Times New Roman" panose="02020603050405020304" pitchFamily="18" charset="0"/>
              </a:rPr>
              <a:t>Using the Pi, one must download and clone the repository, along with its dependencies. By doing this, the Pi will be able to run the program and display certain elements contained in the Magic Mirror file. </a:t>
            </a:r>
          </a:p>
          <a:p>
            <a:pPr marL="0" indent="0">
              <a:lnSpc>
                <a:spcPct val="150000"/>
              </a:lnSpc>
              <a:buNone/>
            </a:pPr>
            <a:r>
              <a:rPr lang="en-US" sz="1800" i="0" dirty="0">
                <a:effectLst/>
                <a:latin typeface="Times New Roman" panose="02020603050405020304" pitchFamily="18" charset="0"/>
                <a:ea typeface="Verdana" panose="020B0604030504040204" pitchFamily="34" charset="0"/>
                <a:cs typeface="Times New Roman" panose="02020603050405020304" pitchFamily="18" charset="0"/>
              </a:rPr>
              <a:t>    To add some extra features , one must access the modules folder. This folder is the key to  housing all the desired options you want for Magic Mirror</a:t>
            </a:r>
          </a:p>
          <a:p>
            <a:pPr>
              <a:lnSpc>
                <a:spcPct val="150000"/>
              </a:lnSpc>
            </a:pPr>
            <a:r>
              <a:rPr lang="en-US" sz="1800" i="0" dirty="0">
                <a:solidFill>
                  <a:schemeClr val="accent2">
                    <a:lumMod val="60000"/>
                    <a:lumOff val="40000"/>
                  </a:schemeClr>
                </a:solidFill>
                <a:effectLst/>
                <a:latin typeface="Times New Roman" panose="02020603050405020304" pitchFamily="18" charset="0"/>
                <a:ea typeface="Verdana" panose="020B0604030504040204" pitchFamily="34" charset="0"/>
                <a:cs typeface="Times New Roman" panose="02020603050405020304" pitchFamily="18" charset="0"/>
              </a:rPr>
              <a:t>The Frame - </a:t>
            </a:r>
            <a:r>
              <a:rPr lang="en-US" sz="1800" b="0" i="0" dirty="0">
                <a:effectLst/>
                <a:latin typeface="Times New Roman" panose="02020603050405020304" pitchFamily="18" charset="0"/>
                <a:ea typeface="Verdana" panose="020B0604030504040204" pitchFamily="34" charset="0"/>
                <a:cs typeface="Times New Roman" panose="02020603050405020304" pitchFamily="18" charset="0"/>
              </a:rPr>
              <a:t>Though the frame is relatively easy to build, there are a few crucial things that one must considered in order to prepare. First off, dealing with the two way mirror. Depending on the size of the monitor, one is required to cut the mirror to size around a half an inch larger (width and length wise) than the monitor. </a:t>
            </a:r>
          </a:p>
          <a:p>
            <a:pPr marL="0" indent="0">
              <a:lnSpc>
                <a:spcPct val="150000"/>
              </a:lnSpc>
              <a:buNone/>
            </a:pPr>
            <a:r>
              <a:rPr lang="en-US" sz="1800" b="0" i="0" dirty="0">
                <a:solidFill>
                  <a:srgbClr val="555555"/>
                </a:solidFill>
                <a:effectLst/>
                <a:latin typeface="Times New Roman" panose="02020603050405020304" pitchFamily="18" charset="0"/>
                <a:ea typeface="Verdana" panose="020B0604030504040204" pitchFamily="34" charset="0"/>
                <a:cs typeface="Times New Roman" panose="02020603050405020304" pitchFamily="18" charset="0"/>
              </a:rPr>
              <a:t>  </a:t>
            </a:r>
            <a:r>
              <a:rPr lang="en-US" sz="1800" b="0" i="0" dirty="0">
                <a:effectLst/>
                <a:latin typeface="Times New Roman" panose="02020603050405020304" pitchFamily="18" charset="0"/>
                <a:ea typeface="Verdana" panose="020B0604030504040204" pitchFamily="34" charset="0"/>
                <a:cs typeface="Times New Roman" panose="02020603050405020304" pitchFamily="18" charset="0"/>
              </a:rPr>
              <a:t>Once the frame has been set and is stable, sandwich the mirror between the frame and the monitor. Screw in the 3D brackets, making sure they are firmly placed.</a:t>
            </a:r>
          </a:p>
          <a:p>
            <a:pPr>
              <a:lnSpc>
                <a:spcPct val="150000"/>
              </a:lnSpc>
            </a:pPr>
            <a:r>
              <a:rPr lang="en-US" sz="1800" i="0" dirty="0">
                <a:solidFill>
                  <a:schemeClr val="accent2">
                    <a:lumMod val="60000"/>
                    <a:lumOff val="40000"/>
                  </a:schemeClr>
                </a:solidFill>
                <a:effectLst/>
                <a:latin typeface="Times New Roman" panose="02020603050405020304" pitchFamily="18" charset="0"/>
                <a:ea typeface="Verdana" panose="020B0604030504040204" pitchFamily="34" charset="0"/>
                <a:cs typeface="Times New Roman" panose="02020603050405020304" pitchFamily="18" charset="0"/>
              </a:rPr>
              <a:t>Assembling the Smart Mirror -  </a:t>
            </a:r>
            <a:r>
              <a:rPr lang="en-US" sz="1800" b="0" i="0" dirty="0">
                <a:effectLst/>
                <a:latin typeface="Times New Roman" panose="02020603050405020304" pitchFamily="18" charset="0"/>
                <a:ea typeface="Verdana" panose="020B0604030504040204" pitchFamily="34" charset="0"/>
                <a:cs typeface="Times New Roman" panose="02020603050405020304" pitchFamily="18" charset="0"/>
              </a:rPr>
              <a:t>We must conceal </a:t>
            </a:r>
            <a:r>
              <a:rPr lang="en-US" sz="1800" b="0" i="0" dirty="0">
                <a:solidFill>
                  <a:srgbClr val="1A1A1A"/>
                </a:solidFill>
                <a:effectLst/>
                <a:latin typeface="Times New Roman" panose="02020603050405020304" pitchFamily="18" charset="0"/>
                <a:ea typeface="Verdana" panose="020B0604030504040204" pitchFamily="34" charset="0"/>
                <a:cs typeface="Times New Roman" panose="02020603050405020304" pitchFamily="18" charset="0"/>
              </a:rPr>
              <a:t>the hardware in a way that looks like a normal mirror. Mount the Raspberry Pi on the backside of the monitor. Then attach the two-way mirror on the top face of the monitor carefully.</a:t>
            </a:r>
          </a:p>
          <a:p>
            <a:endParaRPr lang="en-IN" sz="1800" dirty="0"/>
          </a:p>
          <a:p>
            <a:r>
              <a:rPr lang="en-IN" sz="1800" dirty="0"/>
              <a:t>		</a:t>
            </a:r>
          </a:p>
          <a:p>
            <a:endParaRPr lang="en-IN" sz="1800" dirty="0"/>
          </a:p>
          <a:p>
            <a:r>
              <a:rPr lang="en-IN" sz="1800" dirty="0"/>
              <a:t>		</a:t>
            </a:r>
          </a:p>
          <a:p>
            <a:endParaRPr lang="en-IN" sz="1800" dirty="0"/>
          </a:p>
          <a:p>
            <a:r>
              <a:rPr lang="en-IN" sz="1800" dirty="0"/>
              <a:t>		</a:t>
            </a:r>
          </a:p>
          <a:p>
            <a:endParaRPr lang="en-IN" sz="1800" dirty="0"/>
          </a:p>
          <a:p>
            <a:r>
              <a:rPr lang="en-IN" sz="1800" dirty="0"/>
              <a:t>	</a:t>
            </a:r>
          </a:p>
        </p:txBody>
      </p:sp>
      <p:pic>
        <p:nvPicPr>
          <p:cNvPr id="5" name="Picture 2" descr="New Horizon College of Engineering - Official - Home | Facebook">
            <a:extLst>
              <a:ext uri="{FF2B5EF4-FFF2-40B4-BE49-F238E27FC236}">
                <a16:creationId xmlns:a16="http://schemas.microsoft.com/office/drawing/2014/main" id="{EBB48DB5-8860-47B4-B9DC-439BDB4E795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5744631"/>
            <a:ext cx="1075972" cy="101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443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AF66DF-E932-458B-8629-A6615BF5C2F2}"/>
              </a:ext>
            </a:extLst>
          </p:cNvPr>
          <p:cNvSpPr txBox="1"/>
          <p:nvPr/>
        </p:nvSpPr>
        <p:spPr>
          <a:xfrm>
            <a:off x="381000" y="136256"/>
            <a:ext cx="11430000" cy="584775"/>
          </a:xfrm>
          <a:prstGeom prst="rect">
            <a:avLst/>
          </a:prstGeom>
          <a:noFill/>
        </p:spPr>
        <p:txBody>
          <a:bodyPr wrap="square" rtlCol="0">
            <a:spAutoFit/>
          </a:bodyPr>
          <a:lstStyle/>
          <a:p>
            <a:pPr algn="ctr"/>
            <a:r>
              <a:rPr lang="en-IN" sz="3200" dirty="0">
                <a:gradFill>
                  <a:gsLst>
                    <a:gs pos="0">
                      <a:srgbClr val="BF30C8"/>
                    </a:gs>
                    <a:gs pos="100000">
                      <a:srgbClr val="0C2B86"/>
                    </a:gs>
                  </a:gsLst>
                  <a:lin ang="2700000" scaled="1"/>
                </a:gradFill>
                <a:latin typeface="Raleway Black" panose="020B0A03030101060003" pitchFamily="34" charset="0"/>
              </a:rPr>
              <a:t>Results – (1 or 2 Slides)</a:t>
            </a:r>
          </a:p>
        </p:txBody>
      </p:sp>
      <p:sp>
        <p:nvSpPr>
          <p:cNvPr id="38" name="Subtitle 2">
            <a:extLst>
              <a:ext uri="{FF2B5EF4-FFF2-40B4-BE49-F238E27FC236}">
                <a16:creationId xmlns:a16="http://schemas.microsoft.com/office/drawing/2014/main" id="{EFD68F32-6BD6-4F2F-A792-F084C7E96925}"/>
              </a:ext>
            </a:extLst>
          </p:cNvPr>
          <p:cNvSpPr txBox="1">
            <a:spLocks/>
          </p:cNvSpPr>
          <p:nvPr/>
        </p:nvSpPr>
        <p:spPr>
          <a:xfrm>
            <a:off x="485775" y="1399999"/>
            <a:ext cx="11544300" cy="2308324"/>
          </a:xfrm>
          <a:prstGeom prst="rect">
            <a:avLst/>
          </a:prstGeom>
          <a:noFill/>
        </p:spPr>
        <p:txBody>
          <a:bodyPr wrap="square" rtlCol="0">
            <a:spAutoFit/>
          </a:bodyPr>
          <a:lstStyle>
            <a:defPPr>
              <a:defRPr lang="en-US"/>
            </a:defPPr>
            <a:lvl1pPr>
              <a:defRPr sz="2000" b="1"/>
            </a:lvl1pPr>
          </a:lstStyle>
          <a:p>
            <a:pPr algn="just"/>
            <a:r>
              <a:rPr lang="en-US" sz="1800" b="0" i="0" u="none" strike="noStrike" baseline="0" dirty="0">
                <a:solidFill>
                  <a:srgbClr val="000000"/>
                </a:solidFill>
                <a:latin typeface="Times New Roman" panose="02020603050405020304" pitchFamily="18" charset="0"/>
              </a:rPr>
              <a:t>This paper demonstrated a smart mirror device with a user-friendly architecture with many impressive features. Following a service-oriented approach, a stable and easy-to-use architecture was also introduced in this article. However, security issues cannot be overlooked in today's world of interconnected devices. </a:t>
            </a:r>
          </a:p>
          <a:p>
            <a:pPr algn="just"/>
            <a:r>
              <a:rPr lang="en-US" sz="1800" b="0" i="0" u="none" strike="noStrike" baseline="0" dirty="0">
                <a:solidFill>
                  <a:srgbClr val="000000"/>
                </a:solidFill>
                <a:latin typeface="Times New Roman" panose="02020603050405020304" pitchFamily="18" charset="0"/>
              </a:rPr>
              <a:t>Therefore, this system was designed with a strong authentication framework to ensure the system's end-to-end security. </a:t>
            </a:r>
          </a:p>
          <a:p>
            <a:pPr algn="just"/>
            <a:r>
              <a:rPr lang="en-US" sz="1800" b="0" i="0" u="none" strike="noStrike" baseline="0" dirty="0">
                <a:solidFill>
                  <a:srgbClr val="000000"/>
                </a:solidFill>
                <a:latin typeface="Times New Roman" panose="02020603050405020304" pitchFamily="18" charset="0"/>
              </a:rPr>
              <a:t>The output of the Smart Mirror has a black output screen which displays weather, news and time. The screen displays time which is present in the Raspberry Pi. It makes use the calendar for displaying the day and date along with time.</a:t>
            </a:r>
          </a:p>
          <a:p>
            <a:pPr algn="just"/>
            <a:r>
              <a:rPr lang="en-US" sz="1800" b="0" i="0" u="none" strike="noStrike" baseline="0" dirty="0">
                <a:solidFill>
                  <a:srgbClr val="000000"/>
                </a:solidFill>
                <a:latin typeface="Times New Roman" panose="02020603050405020304" pitchFamily="18" charset="0"/>
              </a:rPr>
              <a:t> Weather condition update changes every hour and is displayed on the screen if there is a change in temperature else the temperature remains unchanged. Complete understanding of user command and necessary action for the same. </a:t>
            </a:r>
            <a:endParaRPr lang="en-IN" sz="2400" dirty="0"/>
          </a:p>
        </p:txBody>
      </p:sp>
      <p:pic>
        <p:nvPicPr>
          <p:cNvPr id="5" name="Picture 2" descr="New Horizon College of Engineering - Official - Home | Facebook">
            <a:extLst>
              <a:ext uri="{FF2B5EF4-FFF2-40B4-BE49-F238E27FC236}">
                <a16:creationId xmlns:a16="http://schemas.microsoft.com/office/drawing/2014/main" id="{BEE0C6CC-AB42-4B30-A8AD-04C1FCFEC5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5744631"/>
            <a:ext cx="1075972" cy="10195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9AFBCA2-F5BF-4052-BDAA-441D474B275C}"/>
              </a:ext>
            </a:extLst>
          </p:cNvPr>
          <p:cNvPicPr/>
          <p:nvPr/>
        </p:nvPicPr>
        <p:blipFill>
          <a:blip r:embed="rId3">
            <a:extLst>
              <a:ext uri="{28A0092B-C50C-407E-A947-70E740481C1C}">
                <a14:useLocalDpi xmlns:a14="http://schemas.microsoft.com/office/drawing/2010/main" val="0"/>
              </a:ext>
            </a:extLst>
          </a:blip>
          <a:stretch>
            <a:fillRect/>
          </a:stretch>
        </p:blipFill>
        <p:spPr>
          <a:xfrm>
            <a:off x="4000632" y="3793066"/>
            <a:ext cx="4514586" cy="2794713"/>
          </a:xfrm>
          <a:prstGeom prst="rect">
            <a:avLst/>
          </a:prstGeom>
        </p:spPr>
      </p:pic>
    </p:spTree>
    <p:extLst>
      <p:ext uri="{BB962C8B-B14F-4D97-AF65-F5344CB8AC3E}">
        <p14:creationId xmlns:p14="http://schemas.microsoft.com/office/powerpoint/2010/main" val="334083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AF66DF-E932-458B-8629-A6615BF5C2F2}"/>
              </a:ext>
            </a:extLst>
          </p:cNvPr>
          <p:cNvSpPr txBox="1"/>
          <p:nvPr/>
        </p:nvSpPr>
        <p:spPr>
          <a:xfrm>
            <a:off x="381000" y="136256"/>
            <a:ext cx="11430000" cy="584775"/>
          </a:xfrm>
          <a:prstGeom prst="rect">
            <a:avLst/>
          </a:prstGeom>
          <a:noFill/>
        </p:spPr>
        <p:txBody>
          <a:bodyPr wrap="square" rtlCol="0">
            <a:spAutoFit/>
          </a:bodyPr>
          <a:lstStyle/>
          <a:p>
            <a:pPr algn="ctr"/>
            <a:r>
              <a:rPr lang="en-IN" sz="3200">
                <a:gradFill>
                  <a:gsLst>
                    <a:gs pos="0">
                      <a:srgbClr val="BF30C8"/>
                    </a:gs>
                    <a:gs pos="100000">
                      <a:srgbClr val="0C2B86"/>
                    </a:gs>
                  </a:gsLst>
                  <a:lin ang="2700000" scaled="1"/>
                </a:gradFill>
                <a:latin typeface="Raleway Black" panose="020B0A03030101060003" pitchFamily="34" charset="0"/>
              </a:rPr>
              <a:t> </a:t>
            </a:r>
            <a:r>
              <a:rPr lang="en-IN" sz="3200" dirty="0">
                <a:gradFill>
                  <a:gsLst>
                    <a:gs pos="0">
                      <a:srgbClr val="BF30C8"/>
                    </a:gs>
                    <a:gs pos="100000">
                      <a:srgbClr val="0C2B86"/>
                    </a:gs>
                  </a:gsLst>
                  <a:lin ang="2700000" scaled="1"/>
                </a:gradFill>
                <a:latin typeface="Raleway Black" panose="020B0A03030101060003" pitchFamily="34" charset="0"/>
              </a:rPr>
              <a:t>Advantages, Disadvantages in the project </a:t>
            </a:r>
          </a:p>
        </p:txBody>
      </p:sp>
      <p:sp>
        <p:nvSpPr>
          <p:cNvPr id="38" name="Subtitle 2">
            <a:extLst>
              <a:ext uri="{FF2B5EF4-FFF2-40B4-BE49-F238E27FC236}">
                <a16:creationId xmlns:a16="http://schemas.microsoft.com/office/drawing/2014/main" id="{EFD68F32-6BD6-4F2F-A792-F084C7E96925}"/>
              </a:ext>
            </a:extLst>
          </p:cNvPr>
          <p:cNvSpPr txBox="1">
            <a:spLocks/>
          </p:cNvSpPr>
          <p:nvPr/>
        </p:nvSpPr>
        <p:spPr>
          <a:xfrm>
            <a:off x="485775" y="1399999"/>
            <a:ext cx="11544300" cy="6278642"/>
          </a:xfrm>
          <a:prstGeom prst="rect">
            <a:avLst/>
          </a:prstGeom>
          <a:noFill/>
        </p:spPr>
        <p:txBody>
          <a:bodyPr wrap="square" rtlCol="0">
            <a:spAutoFit/>
          </a:bodyPr>
          <a:lstStyle>
            <a:defPPr>
              <a:defRPr lang="en-US"/>
            </a:defPPr>
            <a:lvl1pPr>
              <a:defRPr sz="2000" b="1"/>
            </a:lvl1pPr>
          </a:lstStyle>
          <a:p>
            <a:pPr>
              <a:lnSpc>
                <a:spcPct val="150000"/>
              </a:lnSpc>
            </a:pPr>
            <a:endParaRPr lang="en-US" i="0" dirty="0">
              <a:solidFill>
                <a:srgbClr val="153043"/>
              </a:solidFill>
              <a:effectLst/>
              <a:latin typeface="Times New Roman" panose="02020603050405020304" pitchFamily="18" charset="0"/>
              <a:cs typeface="Times New Roman" panose="02020603050405020304" pitchFamily="18" charset="0"/>
            </a:endParaRPr>
          </a:p>
          <a:p>
            <a:pPr>
              <a:lnSpc>
                <a:spcPct val="150000"/>
              </a:lnSpc>
            </a:pPr>
            <a:endParaRPr lang="en-US" dirty="0">
              <a:solidFill>
                <a:srgbClr val="153043"/>
              </a:solidFill>
              <a:latin typeface="Times New Roman" panose="02020603050405020304" pitchFamily="18" charset="0"/>
              <a:cs typeface="Times New Roman" panose="02020603050405020304" pitchFamily="18" charset="0"/>
            </a:endParaRPr>
          </a:p>
          <a:p>
            <a:pPr>
              <a:lnSpc>
                <a:spcPct val="150000"/>
              </a:lnSpc>
            </a:pPr>
            <a:r>
              <a:rPr lang="en-US" i="0" dirty="0">
                <a:solidFill>
                  <a:srgbClr val="153043"/>
                </a:solidFill>
                <a:effectLst/>
                <a:latin typeface="Times New Roman" panose="02020603050405020304" pitchFamily="18" charset="0"/>
                <a:cs typeface="Times New Roman" panose="02020603050405020304" pitchFamily="18" charset="0"/>
              </a:rPr>
              <a:t>ADVANTAGES:</a:t>
            </a:r>
          </a:p>
          <a:p>
            <a:pPr>
              <a:lnSpc>
                <a:spcPct val="150000"/>
              </a:lnSpc>
            </a:pPr>
            <a:r>
              <a:rPr lang="en-US" b="0" i="0" dirty="0">
                <a:solidFill>
                  <a:srgbClr val="153043"/>
                </a:solidFill>
                <a:effectLst/>
                <a:latin typeface="Times New Roman" panose="02020603050405020304" pitchFamily="18" charset="0"/>
                <a:cs typeface="Times New Roman" panose="02020603050405020304" pitchFamily="18" charset="0"/>
              </a:rPr>
              <a:t>Smart mirrors are often used in the retail sector wherein retailers try to catch the interest of potential clients and encourage them for frequent or regular visits.</a:t>
            </a:r>
          </a:p>
          <a:p>
            <a:pPr>
              <a:lnSpc>
                <a:spcPct val="150000"/>
              </a:lnSpc>
            </a:pPr>
            <a:r>
              <a:rPr lang="en-US" b="0" i="0" dirty="0">
                <a:solidFill>
                  <a:srgbClr val="153043"/>
                </a:solidFill>
                <a:effectLst/>
                <a:latin typeface="Times New Roman" panose="02020603050405020304" pitchFamily="18" charset="0"/>
                <a:cs typeface="Times New Roman" panose="02020603050405020304" pitchFamily="18" charset="0"/>
              </a:rPr>
              <a:t> Additionally, they can display useful information, ranging from price and size availability to the fabric used. </a:t>
            </a:r>
          </a:p>
          <a:p>
            <a:pPr>
              <a:lnSpc>
                <a:spcPct val="150000"/>
              </a:lnSpc>
            </a:pPr>
            <a:r>
              <a:rPr lang="en-US" b="0" i="0" dirty="0">
                <a:solidFill>
                  <a:srgbClr val="153043"/>
                </a:solidFill>
                <a:effectLst/>
                <a:latin typeface="Times New Roman" panose="02020603050405020304" pitchFamily="18" charset="0"/>
                <a:cs typeface="Times New Roman" panose="02020603050405020304" pitchFamily="18" charset="0"/>
              </a:rPr>
              <a:t>Smart mirrors allow shoppers to share their shopping experiences on social media. </a:t>
            </a:r>
            <a:endParaRPr lang="en-IN" sz="2400" dirty="0">
              <a:latin typeface="Times New Roman" panose="02020603050405020304" pitchFamily="18" charset="0"/>
              <a:cs typeface="Times New Roman" panose="02020603050405020304" pitchFamily="18" charset="0"/>
            </a:endParaRPr>
          </a:p>
          <a:p>
            <a:endParaRPr lang="en-IN" sz="2400" dirty="0"/>
          </a:p>
          <a:p>
            <a:r>
              <a:rPr lang="en-IN" sz="2400" dirty="0"/>
              <a:t>	</a:t>
            </a:r>
          </a:p>
          <a:p>
            <a:endParaRPr lang="en-IN" sz="2400" dirty="0"/>
          </a:p>
          <a:p>
            <a:r>
              <a:rPr lang="en-IN" sz="2400" dirty="0"/>
              <a:t>		</a:t>
            </a:r>
          </a:p>
          <a:p>
            <a:endParaRPr lang="en-IN" sz="2400" dirty="0"/>
          </a:p>
          <a:p>
            <a:r>
              <a:rPr lang="en-IN" sz="2400" dirty="0"/>
              <a:t>		</a:t>
            </a:r>
          </a:p>
          <a:p>
            <a:endParaRPr lang="en-IN" sz="2400" dirty="0"/>
          </a:p>
          <a:p>
            <a:r>
              <a:rPr lang="en-IN" sz="2400" dirty="0"/>
              <a:t>	</a:t>
            </a:r>
          </a:p>
        </p:txBody>
      </p:sp>
      <p:pic>
        <p:nvPicPr>
          <p:cNvPr id="5" name="Picture 2" descr="New Horizon College of Engineering - Official - Home | Facebook">
            <a:extLst>
              <a:ext uri="{FF2B5EF4-FFF2-40B4-BE49-F238E27FC236}">
                <a16:creationId xmlns:a16="http://schemas.microsoft.com/office/drawing/2014/main" id="{B5DD5EB2-65BA-4AC8-B285-B9CEDBFF09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5744631"/>
            <a:ext cx="1075972" cy="101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1211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AF66DF-E932-458B-8629-A6615BF5C2F2}"/>
              </a:ext>
            </a:extLst>
          </p:cNvPr>
          <p:cNvSpPr txBox="1"/>
          <p:nvPr/>
        </p:nvSpPr>
        <p:spPr>
          <a:xfrm>
            <a:off x="381000" y="136256"/>
            <a:ext cx="11430000" cy="584775"/>
          </a:xfrm>
          <a:prstGeom prst="rect">
            <a:avLst/>
          </a:prstGeom>
          <a:noFill/>
        </p:spPr>
        <p:txBody>
          <a:bodyPr wrap="square" rtlCol="0">
            <a:spAutoFit/>
          </a:bodyPr>
          <a:lstStyle/>
          <a:p>
            <a:pPr algn="ctr"/>
            <a:r>
              <a:rPr lang="en-IN" sz="3200" dirty="0">
                <a:gradFill>
                  <a:gsLst>
                    <a:gs pos="0">
                      <a:srgbClr val="BF30C8"/>
                    </a:gs>
                    <a:gs pos="100000">
                      <a:srgbClr val="0C2B86"/>
                    </a:gs>
                  </a:gsLst>
                  <a:lin ang="2700000" scaled="1"/>
                </a:gradFill>
                <a:latin typeface="Raleway Black" panose="020B0A03030101060003" pitchFamily="34" charset="0"/>
              </a:rPr>
              <a:t>Applications, Advantages, Disadvantages in the project </a:t>
            </a:r>
          </a:p>
        </p:txBody>
      </p:sp>
      <p:sp>
        <p:nvSpPr>
          <p:cNvPr id="38" name="Subtitle 2">
            <a:extLst>
              <a:ext uri="{FF2B5EF4-FFF2-40B4-BE49-F238E27FC236}">
                <a16:creationId xmlns:a16="http://schemas.microsoft.com/office/drawing/2014/main" id="{EFD68F32-6BD6-4F2F-A792-F084C7E96925}"/>
              </a:ext>
            </a:extLst>
          </p:cNvPr>
          <p:cNvSpPr txBox="1">
            <a:spLocks/>
          </p:cNvSpPr>
          <p:nvPr/>
        </p:nvSpPr>
        <p:spPr>
          <a:xfrm>
            <a:off x="485775" y="1399999"/>
            <a:ext cx="11544300" cy="6140142"/>
          </a:xfrm>
          <a:prstGeom prst="rect">
            <a:avLst/>
          </a:prstGeom>
          <a:noFill/>
        </p:spPr>
        <p:txBody>
          <a:bodyPr wrap="square" rtlCol="0">
            <a:spAutoFit/>
          </a:bodyPr>
          <a:lstStyle>
            <a:defPPr>
              <a:defRPr lang="en-US"/>
            </a:defPPr>
            <a:lvl1pPr>
              <a:defRPr sz="2000" b="1"/>
            </a:lvl1pPr>
          </a:lstStyle>
          <a:p>
            <a:pPr>
              <a:lnSpc>
                <a:spcPct val="150000"/>
              </a:lnSpc>
            </a:pPr>
            <a:endParaRPr lang="en-US" i="0" dirty="0">
              <a:solidFill>
                <a:srgbClr val="153043"/>
              </a:solidFill>
              <a:effectLst/>
              <a:latin typeface="Times New Roman" panose="02020603050405020304" pitchFamily="18" charset="0"/>
              <a:cs typeface="Times New Roman" panose="02020603050405020304" pitchFamily="18" charset="0"/>
            </a:endParaRPr>
          </a:p>
          <a:p>
            <a:pPr>
              <a:lnSpc>
                <a:spcPct val="150000"/>
              </a:lnSpc>
            </a:pPr>
            <a:endParaRPr lang="en-US" dirty="0">
              <a:solidFill>
                <a:srgbClr val="153043"/>
              </a:solidFill>
              <a:latin typeface="Times New Roman" panose="02020603050405020304" pitchFamily="18" charset="0"/>
              <a:cs typeface="Times New Roman" panose="02020603050405020304" pitchFamily="18" charset="0"/>
            </a:endParaRPr>
          </a:p>
          <a:p>
            <a:pPr>
              <a:lnSpc>
                <a:spcPct val="150000"/>
              </a:lnSpc>
            </a:pPr>
            <a:r>
              <a:rPr lang="en-US" i="0" dirty="0">
                <a:solidFill>
                  <a:srgbClr val="153043"/>
                </a:solidFill>
                <a:effectLst/>
                <a:latin typeface="Times New Roman" panose="02020603050405020304" pitchFamily="18" charset="0"/>
                <a:cs typeface="Times New Roman" panose="02020603050405020304" pitchFamily="18" charset="0"/>
              </a:rPr>
              <a:t>DISADVANTAGES:</a:t>
            </a:r>
          </a:p>
          <a:p>
            <a:pPr>
              <a:lnSpc>
                <a:spcPct val="150000"/>
              </a:lnSpc>
            </a:pPr>
            <a:r>
              <a:rPr lang="en-US" sz="1800" b="0" i="0" dirty="0">
                <a:solidFill>
                  <a:srgbClr val="153043"/>
                </a:solidFill>
                <a:effectLst/>
                <a:latin typeface="Times New Roman" panose="02020603050405020304" pitchFamily="18" charset="0"/>
                <a:cs typeface="Times New Roman" panose="02020603050405020304" pitchFamily="18" charset="0"/>
              </a:rPr>
              <a:t>Currently, the costs of smart mirrors are quite high. The costs increase with the integration of features such as augmented reality (AR) and RFID with these mirrors. </a:t>
            </a:r>
          </a:p>
          <a:p>
            <a:pPr>
              <a:lnSpc>
                <a:spcPct val="150000"/>
              </a:lnSpc>
            </a:pPr>
            <a:r>
              <a:rPr lang="en-US" sz="1800" b="0" i="0" dirty="0">
                <a:solidFill>
                  <a:srgbClr val="153043"/>
                </a:solidFill>
                <a:effectLst/>
                <a:latin typeface="Times New Roman" panose="02020603050405020304" pitchFamily="18" charset="0"/>
                <a:cs typeface="Times New Roman" panose="02020603050405020304" pitchFamily="18" charset="0"/>
              </a:rPr>
              <a:t>Smart mirrors is a comparatively new concept to audiences belonging to different regions, and so to the end users. </a:t>
            </a:r>
          </a:p>
          <a:p>
            <a:pPr>
              <a:lnSpc>
                <a:spcPct val="150000"/>
              </a:lnSpc>
            </a:pPr>
            <a:r>
              <a:rPr lang="en-US" sz="1800" b="0" i="0" dirty="0">
                <a:solidFill>
                  <a:srgbClr val="153043"/>
                </a:solidFill>
                <a:effectLst/>
                <a:latin typeface="Times New Roman" panose="02020603050405020304" pitchFamily="18" charset="0"/>
                <a:cs typeface="Times New Roman" panose="02020603050405020304" pitchFamily="18" charset="0"/>
              </a:rPr>
              <a:t>With the increase in the use of these mirrors in the automobile and retail industry, the mirror providers are likely to witness a surge in popularity in the upcoming years.</a:t>
            </a:r>
            <a:r>
              <a:rPr lang="en-IN" sz="1800" dirty="0">
                <a:latin typeface="Times New Roman" panose="02020603050405020304" pitchFamily="18" charset="0"/>
                <a:cs typeface="Times New Roman" panose="02020603050405020304" pitchFamily="18" charset="0"/>
              </a:rPr>
              <a:t>	</a:t>
            </a:r>
          </a:p>
          <a:p>
            <a:r>
              <a:rPr lang="en-IN" sz="2400" dirty="0"/>
              <a:t>	</a:t>
            </a:r>
          </a:p>
          <a:p>
            <a:endParaRPr lang="en-IN" sz="2400" dirty="0"/>
          </a:p>
          <a:p>
            <a:r>
              <a:rPr lang="en-IN" sz="2400" dirty="0"/>
              <a:t>		</a:t>
            </a:r>
          </a:p>
          <a:p>
            <a:endParaRPr lang="en-IN" sz="2400" dirty="0"/>
          </a:p>
          <a:p>
            <a:r>
              <a:rPr lang="en-IN" sz="2400" dirty="0"/>
              <a:t>		</a:t>
            </a:r>
          </a:p>
          <a:p>
            <a:endParaRPr lang="en-IN" sz="2400" dirty="0"/>
          </a:p>
          <a:p>
            <a:r>
              <a:rPr lang="en-IN" sz="2400" dirty="0"/>
              <a:t>	</a:t>
            </a:r>
          </a:p>
        </p:txBody>
      </p:sp>
      <p:pic>
        <p:nvPicPr>
          <p:cNvPr id="5" name="Picture 2" descr="New Horizon College of Engineering - Official - Home | Facebook">
            <a:extLst>
              <a:ext uri="{FF2B5EF4-FFF2-40B4-BE49-F238E27FC236}">
                <a16:creationId xmlns:a16="http://schemas.microsoft.com/office/drawing/2014/main" id="{B5DD5EB2-65BA-4AC8-B285-B9CEDBFF09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5744631"/>
            <a:ext cx="1075972" cy="101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372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AF66DF-E932-458B-8629-A6615BF5C2F2}"/>
              </a:ext>
            </a:extLst>
          </p:cNvPr>
          <p:cNvSpPr txBox="1"/>
          <p:nvPr/>
        </p:nvSpPr>
        <p:spPr>
          <a:xfrm>
            <a:off x="381000" y="546882"/>
            <a:ext cx="11430000" cy="1077218"/>
          </a:xfrm>
          <a:prstGeom prst="rect">
            <a:avLst/>
          </a:prstGeom>
          <a:noFill/>
        </p:spPr>
        <p:txBody>
          <a:bodyPr wrap="square" rtlCol="0">
            <a:spAutoFit/>
          </a:bodyPr>
          <a:lstStyle/>
          <a:p>
            <a:pPr algn="ctr"/>
            <a:r>
              <a:rPr lang="en-IN" sz="3200" dirty="0">
                <a:gradFill>
                  <a:gsLst>
                    <a:gs pos="0">
                      <a:srgbClr val="BF30C8"/>
                    </a:gs>
                    <a:gs pos="100000">
                      <a:srgbClr val="0C2B86"/>
                    </a:gs>
                  </a:gsLst>
                  <a:lin ang="2700000" scaled="1"/>
                </a:gradFill>
                <a:latin typeface="Raleway Black" panose="020B0A03030101060003" pitchFamily="34" charset="0"/>
              </a:rPr>
              <a:t>Potential for Future Work / Scope of Commercialization</a:t>
            </a:r>
          </a:p>
          <a:p>
            <a:pPr algn="ctr"/>
            <a:endParaRPr lang="en-IN" sz="3200" dirty="0">
              <a:gradFill>
                <a:gsLst>
                  <a:gs pos="0">
                    <a:srgbClr val="BF30C8"/>
                  </a:gs>
                  <a:gs pos="100000">
                    <a:srgbClr val="0C2B86"/>
                  </a:gs>
                </a:gsLst>
                <a:lin ang="2700000" scaled="1"/>
              </a:gradFill>
              <a:latin typeface="Raleway Black" panose="020B0A03030101060003" pitchFamily="34" charset="0"/>
            </a:endParaRPr>
          </a:p>
        </p:txBody>
      </p:sp>
      <p:sp>
        <p:nvSpPr>
          <p:cNvPr id="38" name="Subtitle 2">
            <a:extLst>
              <a:ext uri="{FF2B5EF4-FFF2-40B4-BE49-F238E27FC236}">
                <a16:creationId xmlns:a16="http://schemas.microsoft.com/office/drawing/2014/main" id="{EFD68F32-6BD6-4F2F-A792-F084C7E96925}"/>
              </a:ext>
            </a:extLst>
          </p:cNvPr>
          <p:cNvSpPr txBox="1">
            <a:spLocks/>
          </p:cNvSpPr>
          <p:nvPr/>
        </p:nvSpPr>
        <p:spPr>
          <a:xfrm>
            <a:off x="756708" y="1535465"/>
            <a:ext cx="10419292" cy="3170099"/>
          </a:xfrm>
          <a:prstGeom prst="rect">
            <a:avLst/>
          </a:prstGeom>
          <a:noFill/>
        </p:spPr>
        <p:txBody>
          <a:bodyPr wrap="square" rtlCol="0">
            <a:spAutoFit/>
          </a:bodyPr>
          <a:lstStyle>
            <a:defPPr>
              <a:defRPr lang="en-US"/>
            </a:defPPr>
            <a:lvl1pPr>
              <a:defRPr sz="2000" b="1"/>
            </a:lvl1pPr>
          </a:lstStyle>
          <a:p>
            <a:pPr algn="just"/>
            <a:r>
              <a:rPr lang="en-US" b="0" i="0" u="none" strike="noStrike" baseline="0" dirty="0">
                <a:solidFill>
                  <a:srgbClr val="000000"/>
                </a:solidFill>
                <a:latin typeface="Times New Roman" panose="02020603050405020304" pitchFamily="18" charset="0"/>
              </a:rPr>
              <a:t>All that should be updated and overhauled on an opportune premise to adapt up to the current innovation. Aside from up-degree, there can be numerous different highlights also which could amount to the capability and capacity of our smart mirror. There are numerous future degrees for this paper and ideally, it will arise as the greatest advantage in the field of man-made reasoning. The most essential component can be savvy reflect based home computerization which will give a characteristic method for association by which we can handle the home devices like switch on/off light and fans through fundamental voice orders. Significantly, since we are utilizing this mirror in a school climate, fundamental functionalities like a standardized tag scanner or unique finger impression sensor can be incorporated to satisfy essential assignments like school participation or program enlistments, and so on This could incorporate enrolling in programs by checking ID cards. </a:t>
            </a:r>
            <a:endParaRPr lang="en-IN" dirty="0"/>
          </a:p>
        </p:txBody>
      </p:sp>
      <p:pic>
        <p:nvPicPr>
          <p:cNvPr id="5" name="Picture 2" descr="New Horizon College of Engineering - Official - Home | Facebook">
            <a:extLst>
              <a:ext uri="{FF2B5EF4-FFF2-40B4-BE49-F238E27FC236}">
                <a16:creationId xmlns:a16="http://schemas.microsoft.com/office/drawing/2014/main" id="{49C014F9-1A14-42A4-A3FA-7417EC82FF3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5744631"/>
            <a:ext cx="1075972" cy="101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576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New Horizon College of Engineering - Official - Home | Facebook">
            <a:extLst>
              <a:ext uri="{FF2B5EF4-FFF2-40B4-BE49-F238E27FC236}">
                <a16:creationId xmlns:a16="http://schemas.microsoft.com/office/drawing/2014/main" id="{9050210A-757A-4595-8A68-67CC4D6BF2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5744631"/>
            <a:ext cx="1075972" cy="101952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DC509F3-A063-49E7-9C1B-504F44409C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35920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FFAF66DF-E932-458B-8629-A6615BF5C2F2}"/>
              </a:ext>
            </a:extLst>
          </p:cNvPr>
          <p:cNvSpPr txBox="1"/>
          <p:nvPr/>
        </p:nvSpPr>
        <p:spPr>
          <a:xfrm>
            <a:off x="268288" y="432063"/>
            <a:ext cx="11430000" cy="584775"/>
          </a:xfrm>
          <a:prstGeom prst="rect">
            <a:avLst/>
          </a:prstGeom>
          <a:noFill/>
        </p:spPr>
        <p:txBody>
          <a:bodyPr wrap="square" rtlCol="0">
            <a:spAutoFit/>
          </a:bodyPr>
          <a:lstStyle/>
          <a:p>
            <a:pPr algn="ctr"/>
            <a:r>
              <a:rPr lang="en-IN" sz="3200" dirty="0">
                <a:gradFill>
                  <a:gsLst>
                    <a:gs pos="0">
                      <a:srgbClr val="BF30C8"/>
                    </a:gs>
                    <a:gs pos="100000">
                      <a:srgbClr val="0C2B86"/>
                    </a:gs>
                  </a:gsLst>
                  <a:lin ang="2700000" scaled="1"/>
                </a:gradFill>
                <a:latin typeface="Raleway Black" panose="020B0A03030101060003" pitchFamily="34" charset="0"/>
              </a:rPr>
              <a:t>Conclusion</a:t>
            </a:r>
          </a:p>
        </p:txBody>
      </p:sp>
      <p:sp>
        <p:nvSpPr>
          <p:cNvPr id="38" name="Subtitle 2">
            <a:extLst>
              <a:ext uri="{FF2B5EF4-FFF2-40B4-BE49-F238E27FC236}">
                <a16:creationId xmlns:a16="http://schemas.microsoft.com/office/drawing/2014/main" id="{EFD68F32-6BD6-4F2F-A792-F084C7E96925}"/>
              </a:ext>
            </a:extLst>
          </p:cNvPr>
          <p:cNvSpPr txBox="1">
            <a:spLocks/>
          </p:cNvSpPr>
          <p:nvPr/>
        </p:nvSpPr>
        <p:spPr>
          <a:xfrm>
            <a:off x="959909" y="1301010"/>
            <a:ext cx="10046758" cy="3785652"/>
          </a:xfrm>
          <a:prstGeom prst="rect">
            <a:avLst/>
          </a:prstGeom>
          <a:noFill/>
        </p:spPr>
        <p:txBody>
          <a:bodyPr wrap="square" rtlCol="0">
            <a:spAutoFit/>
          </a:bodyPr>
          <a:lstStyle>
            <a:defPPr>
              <a:defRPr lang="en-US"/>
            </a:defPPr>
            <a:lvl1pPr>
              <a:defRPr sz="2000" b="1"/>
            </a:lvl1pPr>
          </a:lstStyle>
          <a:p>
            <a:pPr algn="just"/>
            <a:r>
              <a:rPr lang="en-US" sz="1800" b="0" i="0" u="none" strike="noStrike" baseline="0" dirty="0">
                <a:solidFill>
                  <a:srgbClr val="000000"/>
                </a:solidFill>
                <a:latin typeface="Times New Roman" panose="02020603050405020304" pitchFamily="18" charset="0"/>
              </a:rPr>
              <a:t>The Smart Mirror is fundamentally a Personal Assistant for Human cooperation between the Mirror and client. The Smart Mirror is proposed so that it gives everyday life data at the same time while preparing. It gives data like Real-Time, Calendar, Indian Holidays, current Weather Forecast and furthermore forthcoming day's climate determining as per the Smart Mirror's Geo-Location, RSS News Feeds and praises, while preparing. </a:t>
            </a:r>
            <a:r>
              <a:rPr lang="en-US" sz="1800" b="0" i="0" u="none" strike="noStrike" baseline="0" dirty="0">
                <a:solidFill>
                  <a:srgbClr val="000000"/>
                </a:solidFill>
                <a:latin typeface="Times New Roman" panose="02020603050405020304" pitchFamily="18" charset="0"/>
                <a:ea typeface="Verdana" panose="020B0604030504040204" pitchFamily="34" charset="0"/>
                <a:cs typeface="Times New Roman" panose="02020603050405020304" pitchFamily="18" charset="0"/>
              </a:rPr>
              <a:t>The smart mirror can also be implemented in various industrial and home applications. Hence IoT proves out to be an important technology for making household appliances smart. The facial recognition technology used in the smart mirror proves out to be an important means of </a:t>
            </a:r>
            <a:r>
              <a:rPr lang="en-US" sz="1800" dirty="0">
                <a:solidFill>
                  <a:srgbClr val="000000"/>
                </a:solidFill>
                <a:latin typeface="Times New Roman" panose="02020603050405020304" pitchFamily="18" charset="0"/>
                <a:ea typeface="Verdana" panose="020B0604030504040204" pitchFamily="34" charset="0"/>
                <a:cs typeface="Times New Roman" panose="02020603050405020304" pitchFamily="18" charset="0"/>
              </a:rPr>
              <a:t> </a:t>
            </a:r>
            <a:r>
              <a:rPr lang="en-US" sz="1800" b="0" i="0" u="none" strike="noStrike" baseline="0" dirty="0">
                <a:solidFill>
                  <a:srgbClr val="000000"/>
                </a:solidFill>
                <a:latin typeface="Times New Roman" panose="02020603050405020304" pitchFamily="18" charset="0"/>
                <a:ea typeface="Verdana" panose="020B0604030504040204" pitchFamily="34" charset="0"/>
                <a:cs typeface="Times New Roman" panose="02020603050405020304" pitchFamily="18" charset="0"/>
              </a:rPr>
              <a:t>security. Smart mirrors can be connected to home appliances and smart phones. </a:t>
            </a:r>
          </a:p>
          <a:p>
            <a:pPr algn="just"/>
            <a:r>
              <a:rPr lang="en-US" sz="1800" b="0" i="0" u="none" strike="noStrike" baseline="0" dirty="0">
                <a:solidFill>
                  <a:srgbClr val="000000"/>
                </a:solidFill>
                <a:latin typeface="Times New Roman" panose="02020603050405020304" pitchFamily="18" charset="0"/>
                <a:ea typeface="Verdana" panose="020B0604030504040204" pitchFamily="34" charset="0"/>
                <a:cs typeface="Times New Roman" panose="02020603050405020304" pitchFamily="18" charset="0"/>
              </a:rPr>
              <a:t>The mirrors can detect face and provide access to personalized services. The mirror can also be implemented to recognize emotions. The mirrors can be better enhanced to be deployed in beauty parlors, cloth shops, hotels, etc. With better advancements in technology, mirrors can be used in many other fields. </a:t>
            </a:r>
            <a:endParaRPr lang="en-US" sz="1800" dirty="0">
              <a:latin typeface="Times New Roman" panose="02020603050405020304" pitchFamily="18" charset="0"/>
              <a:ea typeface="Verdana" panose="020B0604030504040204" pitchFamily="34" charset="0"/>
              <a:cs typeface="Times New Roman" panose="02020603050405020304" pitchFamily="18" charset="0"/>
            </a:endParaRPr>
          </a:p>
          <a:p>
            <a:endParaRPr lang="en-US" sz="1800" b="0" i="0" u="none" strike="noStrike" baseline="0" dirty="0">
              <a:solidFill>
                <a:srgbClr val="000000"/>
              </a:solidFill>
              <a:latin typeface="Times New Roman" panose="02020603050405020304" pitchFamily="18" charset="0"/>
            </a:endParaRPr>
          </a:p>
          <a:p>
            <a:endParaRPr lang="en-IN" sz="2400" dirty="0"/>
          </a:p>
        </p:txBody>
      </p:sp>
      <p:pic>
        <p:nvPicPr>
          <p:cNvPr id="5" name="Picture 2" descr="New Horizon College of Engineering - Official - Home | Facebook">
            <a:extLst>
              <a:ext uri="{FF2B5EF4-FFF2-40B4-BE49-F238E27FC236}">
                <a16:creationId xmlns:a16="http://schemas.microsoft.com/office/drawing/2014/main" id="{2642306A-551E-4ACD-BAE7-E75F0AA18F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5744631"/>
            <a:ext cx="1075972" cy="101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781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1751</Words>
  <Application>Microsoft Office PowerPoint</Application>
  <PresentationFormat>Widescreen</PresentationFormat>
  <Paragraphs>90</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Raleway Black</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Pankaj Sharma</dc:creator>
  <cp:lastModifiedBy>Shaun John</cp:lastModifiedBy>
  <cp:revision>40</cp:revision>
  <cp:lastPrinted>2021-07-19T06:04:15Z</cp:lastPrinted>
  <dcterms:created xsi:type="dcterms:W3CDTF">2018-10-06T15:51:01Z</dcterms:created>
  <dcterms:modified xsi:type="dcterms:W3CDTF">2021-07-26T06:10:12Z</dcterms:modified>
</cp:coreProperties>
</file>
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256" r:id="rId2"/>
    <p:sldId id="257" r:id="rId3"/>
    <p:sldId id="258" r:id="rId4"/>
    <p:sldId id="259" r:id="rId5"/>
    <p:sldId id="260" r:id="rId6"/>
    <p:sldId id="261" r:id="rId7"/>
    <p:sldId id="265" r:id="rId8"/>
    <p:sldId id="262"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74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C1CB745-838C-46AA-B713-31770BD7F03A}" type="datetimeFigureOut">
              <a:rPr lang="en-US" smtClean="0"/>
              <a:t>11/16/2020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B3F1BB8-AE64-4445-9B51-AF2CEF1EC6CA}" type="slidenum">
              <a:rPr lang="en-US" smtClean="0"/>
              <a:t>‹#›</a:t>
            </a:fld>
            <a:endParaRPr lang="en-US"/>
          </a:p>
        </p:txBody>
      </p:sp>
    </p:spTree>
    <p:extLst>
      <p:ext uri="{BB962C8B-B14F-4D97-AF65-F5344CB8AC3E}">
        <p14:creationId xmlns:p14="http://schemas.microsoft.com/office/powerpoint/2010/main" val="1558805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1CB745-838C-46AA-B713-31770BD7F03A}" type="datetimeFigureOut">
              <a:rPr lang="en-US" smtClean="0"/>
              <a:t>11/16/2020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3F1BB8-AE64-4445-9B51-AF2CEF1EC6CA}" type="slidenum">
              <a:rPr lang="en-US" smtClean="0"/>
              <a:t>‹#›</a:t>
            </a:fld>
            <a:endParaRPr lang="en-US"/>
          </a:p>
        </p:txBody>
      </p:sp>
    </p:spTree>
    <p:extLst>
      <p:ext uri="{BB962C8B-B14F-4D97-AF65-F5344CB8AC3E}">
        <p14:creationId xmlns:p14="http://schemas.microsoft.com/office/powerpoint/2010/main" val="1342370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EC1CB745-838C-46AA-B713-31770BD7F03A}" type="datetimeFigureOut">
              <a:rPr lang="en-US" smtClean="0"/>
              <a:t>11/16/2020</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B3F1BB8-AE64-4445-9B51-AF2CEF1EC6CA}" type="slidenum">
              <a:rPr lang="en-US" smtClean="0"/>
              <a:t>‹#›</a:t>
            </a:fld>
            <a:endParaRPr lang="en-US"/>
          </a:p>
        </p:txBody>
      </p:sp>
    </p:spTree>
    <p:extLst>
      <p:ext uri="{BB962C8B-B14F-4D97-AF65-F5344CB8AC3E}">
        <p14:creationId xmlns:p14="http://schemas.microsoft.com/office/powerpoint/2010/main" val="2902290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1CB745-838C-46AA-B713-31770BD7F03A}" type="datetimeFigureOut">
              <a:rPr lang="en-US" smtClean="0"/>
              <a:t>11/16/2020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3F1BB8-AE64-4445-9B51-AF2CEF1EC6CA}" type="slidenum">
              <a:rPr lang="en-US" smtClean="0"/>
              <a:t>‹#›</a:t>
            </a:fld>
            <a:endParaRPr lang="en-US"/>
          </a:p>
        </p:txBody>
      </p:sp>
    </p:spTree>
    <p:extLst>
      <p:ext uri="{BB962C8B-B14F-4D97-AF65-F5344CB8AC3E}">
        <p14:creationId xmlns:p14="http://schemas.microsoft.com/office/powerpoint/2010/main" val="434946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1CB745-838C-46AA-B713-31770BD7F03A}" type="datetimeFigureOut">
              <a:rPr lang="en-US" smtClean="0"/>
              <a:t>11/16/2020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3F1BB8-AE64-4445-9B51-AF2CEF1EC6CA}" type="slidenum">
              <a:rPr lang="en-US" smtClean="0"/>
              <a:t>‹#›</a:t>
            </a:fld>
            <a:endParaRPr lang="en-US"/>
          </a:p>
        </p:txBody>
      </p:sp>
    </p:spTree>
    <p:extLst>
      <p:ext uri="{BB962C8B-B14F-4D97-AF65-F5344CB8AC3E}">
        <p14:creationId xmlns:p14="http://schemas.microsoft.com/office/powerpoint/2010/main" val="1303736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1CB745-838C-46AA-B713-31770BD7F03A}" type="datetimeFigureOut">
              <a:rPr lang="en-US" smtClean="0"/>
              <a:t>11/16/2020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3F1BB8-AE64-4445-9B51-AF2CEF1EC6CA}" type="slidenum">
              <a:rPr lang="en-US" smtClean="0"/>
              <a:t>‹#›</a:t>
            </a:fld>
            <a:endParaRPr lang="en-US"/>
          </a:p>
        </p:txBody>
      </p:sp>
    </p:spTree>
    <p:extLst>
      <p:ext uri="{BB962C8B-B14F-4D97-AF65-F5344CB8AC3E}">
        <p14:creationId xmlns:p14="http://schemas.microsoft.com/office/powerpoint/2010/main" val="1405395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1CB745-838C-46AA-B713-31770BD7F03A}" type="datetimeFigureOut">
              <a:rPr lang="en-US" smtClean="0"/>
              <a:t>11/16/2020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3F1BB8-AE64-4445-9B51-AF2CEF1EC6CA}" type="slidenum">
              <a:rPr lang="en-US" smtClean="0"/>
              <a:t>‹#›</a:t>
            </a:fld>
            <a:endParaRPr lang="en-US"/>
          </a:p>
        </p:txBody>
      </p:sp>
    </p:spTree>
    <p:extLst>
      <p:ext uri="{BB962C8B-B14F-4D97-AF65-F5344CB8AC3E}">
        <p14:creationId xmlns:p14="http://schemas.microsoft.com/office/powerpoint/2010/main" val="3752245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1CB745-838C-46AA-B713-31770BD7F03A}" type="datetimeFigureOut">
              <a:rPr lang="en-US" smtClean="0"/>
              <a:t>11/16/2020</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B3F1BB8-AE64-4445-9B51-AF2CEF1EC6CA}" type="slidenum">
              <a:rPr lang="en-US" smtClean="0"/>
              <a:t>‹#›</a:t>
            </a:fld>
            <a:endParaRPr lang="en-US"/>
          </a:p>
        </p:txBody>
      </p:sp>
    </p:spTree>
    <p:extLst>
      <p:ext uri="{BB962C8B-B14F-4D97-AF65-F5344CB8AC3E}">
        <p14:creationId xmlns:p14="http://schemas.microsoft.com/office/powerpoint/2010/main" val="1217744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1CB745-838C-46AA-B713-31770BD7F03A}" type="datetimeFigureOut">
              <a:rPr lang="en-US" smtClean="0"/>
              <a:t>11/16/2020</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B3F1BB8-AE64-4445-9B51-AF2CEF1EC6CA}" type="slidenum">
              <a:rPr lang="en-US" smtClean="0"/>
              <a:t>‹#›</a:t>
            </a:fld>
            <a:endParaRPr lang="en-US"/>
          </a:p>
        </p:txBody>
      </p:sp>
    </p:spTree>
    <p:extLst>
      <p:ext uri="{BB962C8B-B14F-4D97-AF65-F5344CB8AC3E}">
        <p14:creationId xmlns:p14="http://schemas.microsoft.com/office/powerpoint/2010/main" val="632391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1CB745-838C-46AA-B713-31770BD7F03A}" type="datetimeFigureOut">
              <a:rPr lang="en-US" smtClean="0"/>
              <a:t>11/16/2020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3F1BB8-AE64-4445-9B51-AF2CEF1EC6CA}" type="slidenum">
              <a:rPr lang="en-US" smtClean="0"/>
              <a:t>‹#›</a:t>
            </a:fld>
            <a:endParaRPr lang="en-US"/>
          </a:p>
        </p:txBody>
      </p:sp>
    </p:spTree>
    <p:extLst>
      <p:ext uri="{BB962C8B-B14F-4D97-AF65-F5344CB8AC3E}">
        <p14:creationId xmlns:p14="http://schemas.microsoft.com/office/powerpoint/2010/main" val="3076412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1CB745-838C-46AA-B713-31770BD7F03A}" type="datetimeFigureOut">
              <a:rPr lang="en-US" smtClean="0"/>
              <a:t>11/16/2020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3F1BB8-AE64-4445-9B51-AF2CEF1EC6CA}" type="slidenum">
              <a:rPr lang="en-US" smtClean="0"/>
              <a:t>‹#›</a:t>
            </a:fld>
            <a:endParaRPr lang="en-US"/>
          </a:p>
        </p:txBody>
      </p:sp>
    </p:spTree>
    <p:extLst>
      <p:ext uri="{BB962C8B-B14F-4D97-AF65-F5344CB8AC3E}">
        <p14:creationId xmlns:p14="http://schemas.microsoft.com/office/powerpoint/2010/main" val="1105743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EC1CB745-838C-46AA-B713-31770BD7F03A}" type="datetimeFigureOut">
              <a:rPr lang="en-US" smtClean="0"/>
              <a:t>11/16/2020</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B3F1BB8-AE64-4445-9B51-AF2CEF1EC6CA}" type="slidenum">
              <a:rPr lang="en-US" smtClean="0"/>
              <a:t>‹#›</a:t>
            </a:fld>
            <a:endParaRPr lang="en-US"/>
          </a:p>
        </p:txBody>
      </p:sp>
    </p:spTree>
    <p:extLst>
      <p:ext uri="{BB962C8B-B14F-4D97-AF65-F5344CB8AC3E}">
        <p14:creationId xmlns:p14="http://schemas.microsoft.com/office/powerpoint/2010/main" val="3255654429"/>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png"/><Relationship Id="rId2" Type="http://schemas.openxmlformats.org/officeDocument/2006/relationships/image" Target="../media/image7.jpg"/><Relationship Id="rId1" Type="http://schemas.openxmlformats.org/officeDocument/2006/relationships/slideLayout" Target="../slideLayouts/slideLayout2.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linuxhint.com/wp-content/uploads/2020/06/6-1.jp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451B455-BCB2-48E4-8C29-73FEB6B18801}"/>
              </a:ext>
            </a:extLst>
          </p:cNvPr>
          <p:cNvSpPr>
            <a:spLocks noGrp="1"/>
          </p:cNvSpPr>
          <p:nvPr>
            <p:ph type="subTitle" idx="1"/>
          </p:nvPr>
        </p:nvSpPr>
        <p:spPr>
          <a:xfrm>
            <a:off x="1085439" y="2018452"/>
            <a:ext cx="9754451" cy="4427504"/>
          </a:xfrm>
        </p:spPr>
        <p:txBody>
          <a:bodyPr>
            <a:normAutofit fontScale="92500" lnSpcReduction="20000"/>
          </a:bodyPr>
          <a:lstStyle/>
          <a:p>
            <a:endParaRPr lang="en-US" sz="4400" b="1" u="sng" dirty="0">
              <a:effectLst>
                <a:outerShdw blurRad="38100" dist="38100" dir="2700000" algn="tl">
                  <a:srgbClr val="000000">
                    <a:alpha val="43137"/>
                  </a:srgbClr>
                </a:outerShdw>
              </a:effectLst>
              <a:latin typeface="Century" panose="02040604050505020304" pitchFamily="18" charset="0"/>
            </a:endParaRPr>
          </a:p>
          <a:p>
            <a:r>
              <a:rPr lang="en-US" sz="4300" b="1" u="sng" dirty="0">
                <a:effectLst>
                  <a:outerShdw blurRad="38100" dist="38100" dir="2700000" algn="tl">
                    <a:srgbClr val="000000">
                      <a:alpha val="43137"/>
                    </a:srgbClr>
                  </a:outerShdw>
                </a:effectLst>
                <a:latin typeface="Century" panose="02040604050505020304" pitchFamily="18" charset="0"/>
              </a:rPr>
              <a:t>SMART MIRROR USING</a:t>
            </a:r>
          </a:p>
          <a:p>
            <a:r>
              <a:rPr lang="en-US" sz="4300" b="1" u="sng" dirty="0">
                <a:effectLst>
                  <a:outerShdw blurRad="38100" dist="38100" dir="2700000" algn="tl">
                    <a:srgbClr val="000000">
                      <a:alpha val="43137"/>
                    </a:srgbClr>
                  </a:outerShdw>
                </a:effectLst>
                <a:latin typeface="Century" panose="02040604050505020304" pitchFamily="18" charset="0"/>
              </a:rPr>
              <a:t>RASPBERRY PI </a:t>
            </a:r>
          </a:p>
          <a:p>
            <a:endParaRPr lang="en-US" sz="4400" b="1" u="sng" dirty="0">
              <a:latin typeface="Rockwell Condensed" panose="02060603050405020104" pitchFamily="18" charset="0"/>
            </a:endParaRPr>
          </a:p>
          <a:p>
            <a:pPr algn="l"/>
            <a:r>
              <a:rPr lang="en-US" sz="2000" b="1" u="sng" dirty="0">
                <a:latin typeface="Bookman Old Style" panose="02050604050505020204" pitchFamily="18" charset="0"/>
              </a:rPr>
              <a:t>PRESENTED BY: </a:t>
            </a:r>
            <a:endParaRPr lang="en-US" sz="2000" dirty="0">
              <a:latin typeface="Bookman Old Style" panose="02050604050505020204" pitchFamily="18" charset="0"/>
            </a:endParaRPr>
          </a:p>
          <a:p>
            <a:pPr algn="l"/>
            <a:r>
              <a:rPr lang="en-US" sz="2000" dirty="0">
                <a:latin typeface="Bookman Old Style" panose="02050604050505020204" pitchFamily="18" charset="0"/>
              </a:rPr>
              <a:t>BHARAT SURYA – 1NH17EE706</a:t>
            </a:r>
          </a:p>
          <a:p>
            <a:pPr algn="l"/>
            <a:r>
              <a:rPr lang="en-US" sz="2000" dirty="0">
                <a:latin typeface="Bookman Old Style" panose="02050604050505020204" pitchFamily="18" charset="0"/>
              </a:rPr>
              <a:t>KAVITA SAH  – 1NH17EE718</a:t>
            </a:r>
          </a:p>
          <a:p>
            <a:pPr algn="l"/>
            <a:r>
              <a:rPr lang="en-US" sz="2000" dirty="0">
                <a:latin typeface="Bookman Old Style" panose="02050604050505020204" pitchFamily="18" charset="0"/>
              </a:rPr>
              <a:t>RAKSHA S  – 1NH17EE745</a:t>
            </a:r>
          </a:p>
          <a:p>
            <a:pPr algn="l"/>
            <a:r>
              <a:rPr lang="en-US" sz="2000" dirty="0">
                <a:latin typeface="Bookman Old Style" panose="02050604050505020204" pitchFamily="18" charset="0"/>
              </a:rPr>
              <a:t>SHAUN JOHN  – 1NH17EE748</a:t>
            </a:r>
          </a:p>
          <a:p>
            <a:endParaRPr lang="en-US" sz="4400" b="1" u="sng" dirty="0">
              <a:latin typeface="Rockwell Condensed" panose="02060603050405020104" pitchFamily="18" charset="0"/>
            </a:endParaRPr>
          </a:p>
          <a:p>
            <a:endParaRPr lang="en-US" sz="4400" b="1" u="sng" dirty="0">
              <a:latin typeface="Rockwell Condensed" panose="02060603050405020104" pitchFamily="18" charset="0"/>
            </a:endParaRPr>
          </a:p>
          <a:p>
            <a:endParaRPr lang="en-US" dirty="0"/>
          </a:p>
        </p:txBody>
      </p:sp>
      <p:pic>
        <p:nvPicPr>
          <p:cNvPr id="7" name="Picture 6" descr="E:\ew template.jpg">
            <a:extLst>
              <a:ext uri="{FF2B5EF4-FFF2-40B4-BE49-F238E27FC236}">
                <a16:creationId xmlns:a16="http://schemas.microsoft.com/office/drawing/2014/main" id="{09A6664A-17A1-4D9D-8E86-600A59256CE8}"/>
              </a:ext>
            </a:extLst>
          </p:cNvPr>
          <p:cNvPicPr/>
          <p:nvPr/>
        </p:nvPicPr>
        <p:blipFill>
          <a:blip r:embed="rId2" cstate="print"/>
          <a:srcRect l="1207" t="4645"/>
          <a:stretch>
            <a:fillRect/>
          </a:stretch>
        </p:blipFill>
        <p:spPr bwMode="auto">
          <a:xfrm>
            <a:off x="1085439" y="524096"/>
            <a:ext cx="9933368" cy="1494356"/>
          </a:xfrm>
          <a:prstGeom prst="rect">
            <a:avLst/>
          </a:prstGeom>
          <a:noFill/>
          <a:ln w="9525">
            <a:solidFill>
              <a:schemeClr val="bg1"/>
            </a:solidFill>
            <a:miter lim="800000"/>
            <a:headEnd/>
            <a:tailEnd/>
          </a:ln>
        </p:spPr>
      </p:pic>
    </p:spTree>
    <p:extLst>
      <p:ext uri="{BB962C8B-B14F-4D97-AF65-F5344CB8AC3E}">
        <p14:creationId xmlns:p14="http://schemas.microsoft.com/office/powerpoint/2010/main" val="3176379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AC526-F289-4471-80BC-6BF67392609A}"/>
              </a:ext>
            </a:extLst>
          </p:cNvPr>
          <p:cNvSpPr>
            <a:spLocks noGrp="1"/>
          </p:cNvSpPr>
          <p:nvPr>
            <p:ph type="title"/>
          </p:nvPr>
        </p:nvSpPr>
        <p:spPr>
          <a:xfrm>
            <a:off x="1066800" y="157255"/>
            <a:ext cx="10058400" cy="1609344"/>
          </a:xfrm>
        </p:spPr>
        <p:txBody>
          <a:bodyPr/>
          <a:lstStyle/>
          <a:p>
            <a:pPr algn="ctr"/>
            <a:r>
              <a:rPr lang="en-US" b="1" u="sng" dirty="0">
                <a:effectLst>
                  <a:outerShdw blurRad="38100" dist="38100" dir="2700000" algn="tl">
                    <a:srgbClr val="000000">
                      <a:alpha val="43137"/>
                    </a:srgbClr>
                  </a:outerShdw>
                </a:effectLst>
                <a:latin typeface="Century" panose="02040604050505020304" pitchFamily="18" charset="0"/>
              </a:rPr>
              <a:t>INTRODUCTION </a:t>
            </a:r>
          </a:p>
        </p:txBody>
      </p:sp>
      <p:sp>
        <p:nvSpPr>
          <p:cNvPr id="3" name="Content Placeholder 2">
            <a:extLst>
              <a:ext uri="{FF2B5EF4-FFF2-40B4-BE49-F238E27FC236}">
                <a16:creationId xmlns:a16="http://schemas.microsoft.com/office/drawing/2014/main" id="{19E55E0A-4256-4B51-B4BE-E4C78DFDCF2F}"/>
              </a:ext>
            </a:extLst>
          </p:cNvPr>
          <p:cNvSpPr>
            <a:spLocks noGrp="1"/>
          </p:cNvSpPr>
          <p:nvPr>
            <p:ph idx="1"/>
          </p:nvPr>
        </p:nvSpPr>
        <p:spPr>
          <a:xfrm>
            <a:off x="1066800" y="1511808"/>
            <a:ext cx="10058400" cy="4730948"/>
          </a:xfrm>
        </p:spPr>
        <p:txBody>
          <a:bodyPr>
            <a:normAutofit/>
          </a:bodyPr>
          <a:lstStyle/>
          <a:p>
            <a:pPr algn="l"/>
            <a:endParaRPr lang="en-US" sz="1800" b="0" i="0" u="none" strike="noStrike" baseline="0" dirty="0">
              <a:solidFill>
                <a:srgbClr val="000000"/>
              </a:solidFill>
              <a:latin typeface="Times New Roman" panose="02020603050405020304" pitchFamily="18" charset="0"/>
            </a:endParaRPr>
          </a:p>
          <a:p>
            <a:pPr algn="just"/>
            <a:r>
              <a:rPr lang="en-US" sz="1800" b="0" i="0" u="none" strike="noStrike" baseline="0" dirty="0">
                <a:solidFill>
                  <a:srgbClr val="000000"/>
                </a:solidFill>
                <a:latin typeface="Verdana" panose="020B0604030504040204" pitchFamily="34" charset="0"/>
                <a:ea typeface="Verdana" panose="020B0604030504040204" pitchFamily="34" charset="0"/>
              </a:rPr>
              <a:t>Smart mirror is a wall mounted mirror which displays weather, time, news and other areas of interests.</a:t>
            </a:r>
          </a:p>
          <a:p>
            <a:pPr algn="just"/>
            <a:r>
              <a:rPr lang="en-US" sz="1800" b="0" i="0" dirty="0">
                <a:solidFill>
                  <a:srgbClr val="2C2C2C"/>
                </a:solidFill>
                <a:effectLst/>
                <a:latin typeface="Verdana" panose="020B0604030504040204" pitchFamily="34" charset="0"/>
                <a:ea typeface="Verdana" panose="020B0604030504040204" pitchFamily="34" charset="0"/>
              </a:rPr>
              <a:t>A smart mirror is basically a mirror with a screen behind it .That screen can be an       Android tablet or a computer monitor. </a:t>
            </a:r>
          </a:p>
          <a:p>
            <a:pPr algn="just"/>
            <a:r>
              <a:rPr lang="en-US" sz="1800" b="0" i="0" u="none" strike="noStrike" baseline="0" dirty="0">
                <a:solidFill>
                  <a:srgbClr val="000000"/>
                </a:solidFill>
                <a:latin typeface="Verdana" panose="020B0604030504040204" pitchFamily="34" charset="0"/>
                <a:ea typeface="Verdana" panose="020B0604030504040204" pitchFamily="34" charset="0"/>
              </a:rPr>
              <a:t>In recent years more and more devices are connected to the internet. The internet has played an important role in connecting more and more people across the world. Devices started to become smarter a smarter, mobile phones became smartphones and most importantly internet was connected to a variety of devices and the concept came to be known as the ‘Internet of Things’.</a:t>
            </a:r>
            <a:endParaRPr lang="en-US" sz="1800" dirty="0">
              <a:solidFill>
                <a:srgbClr val="2C2C2C"/>
              </a:solidFill>
              <a:latin typeface="Verdana" panose="020B0604030504040204" pitchFamily="34" charset="0"/>
              <a:ea typeface="Verdana" panose="020B0604030504040204" pitchFamily="34" charset="0"/>
            </a:endParaRPr>
          </a:p>
          <a:p>
            <a:pPr algn="just"/>
            <a:r>
              <a:rPr lang="en-US" sz="1800" b="0" i="0" u="none" strike="noStrike" baseline="0" dirty="0">
                <a:solidFill>
                  <a:srgbClr val="000000"/>
                </a:solidFill>
                <a:latin typeface="Verdana" panose="020B0604030504040204" pitchFamily="34" charset="0"/>
                <a:ea typeface="Verdana" panose="020B0604030504040204" pitchFamily="34" charset="0"/>
              </a:rPr>
              <a:t>Our project aims at exploring other fields where this technology can be used. It aims at including this technology in a mirror, because in general people spend a considerable amount of time in front of a mirror.</a:t>
            </a:r>
            <a:endParaRPr lang="en-US"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876286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D31F6-84FD-4DE3-97FD-F8AC07F79282}"/>
              </a:ext>
            </a:extLst>
          </p:cNvPr>
          <p:cNvSpPr>
            <a:spLocks noGrp="1"/>
          </p:cNvSpPr>
          <p:nvPr>
            <p:ph type="title"/>
          </p:nvPr>
        </p:nvSpPr>
        <p:spPr>
          <a:xfrm>
            <a:off x="837974" y="89521"/>
            <a:ext cx="10058400" cy="1609344"/>
          </a:xfrm>
        </p:spPr>
        <p:txBody>
          <a:bodyPr/>
          <a:lstStyle/>
          <a:p>
            <a:pPr algn="ctr"/>
            <a:r>
              <a:rPr lang="en-US" b="1" u="sng" dirty="0">
                <a:effectLst>
                  <a:outerShdw blurRad="38100" dist="38100" dir="2700000" algn="tl">
                    <a:srgbClr val="000000">
                      <a:alpha val="43137"/>
                    </a:srgbClr>
                  </a:outerShdw>
                </a:effectLst>
                <a:latin typeface="Century" panose="02040604050505020304" pitchFamily="18" charset="0"/>
              </a:rPr>
              <a:t>BLOCK DIAGRAM</a:t>
            </a:r>
          </a:p>
        </p:txBody>
      </p:sp>
      <p:pic>
        <p:nvPicPr>
          <p:cNvPr id="7" name="Content Placeholder 6">
            <a:extLst>
              <a:ext uri="{FF2B5EF4-FFF2-40B4-BE49-F238E27FC236}">
                <a16:creationId xmlns:a16="http://schemas.microsoft.com/office/drawing/2014/main" id="{08D0AD9E-63D6-4F48-B5A2-57910347B5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8177" y="1698865"/>
            <a:ext cx="10915646" cy="3911713"/>
          </a:xfrm>
        </p:spPr>
      </p:pic>
    </p:spTree>
    <p:extLst>
      <p:ext uri="{BB962C8B-B14F-4D97-AF65-F5344CB8AC3E}">
        <p14:creationId xmlns:p14="http://schemas.microsoft.com/office/powerpoint/2010/main" val="1001154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ED54F-9013-4ADC-8A28-E6CAABD13477}"/>
              </a:ext>
            </a:extLst>
          </p:cNvPr>
          <p:cNvSpPr>
            <a:spLocks noGrp="1"/>
          </p:cNvSpPr>
          <p:nvPr>
            <p:ph type="title"/>
          </p:nvPr>
        </p:nvSpPr>
        <p:spPr/>
        <p:txBody>
          <a:bodyPr/>
          <a:lstStyle/>
          <a:p>
            <a:pPr algn="ctr"/>
            <a:r>
              <a:rPr lang="en-US" sz="4400" b="1" u="sng" dirty="0">
                <a:latin typeface="Century" panose="02040604050505020304" pitchFamily="18" charset="0"/>
              </a:rPr>
              <a:t>PROPOSED METHODOLOGY</a:t>
            </a:r>
            <a:endParaRPr lang="en-US" dirty="0">
              <a:latin typeface="Century" panose="02040604050505020304" pitchFamily="18" charset="0"/>
            </a:endParaRPr>
          </a:p>
        </p:txBody>
      </p:sp>
      <p:sp>
        <p:nvSpPr>
          <p:cNvPr id="3" name="Content Placeholder 2">
            <a:extLst>
              <a:ext uri="{FF2B5EF4-FFF2-40B4-BE49-F238E27FC236}">
                <a16:creationId xmlns:a16="http://schemas.microsoft.com/office/drawing/2014/main" id="{2A1B2E2D-B547-45BC-B671-A937E8F31509}"/>
              </a:ext>
            </a:extLst>
          </p:cNvPr>
          <p:cNvSpPr>
            <a:spLocks noGrp="1"/>
          </p:cNvSpPr>
          <p:nvPr>
            <p:ph idx="1"/>
          </p:nvPr>
        </p:nvSpPr>
        <p:spPr/>
        <p:txBody>
          <a:bodyPr>
            <a:normAutofit/>
          </a:bodyPr>
          <a:lstStyle/>
          <a:p>
            <a:pPr algn="just"/>
            <a:r>
              <a:rPr lang="en-US" sz="1800" b="0" i="0" u="none" strike="noStrike" baseline="0" dirty="0">
                <a:solidFill>
                  <a:srgbClr val="000000"/>
                </a:solidFill>
                <a:latin typeface="Verdana" panose="020B0604030504040204" pitchFamily="34" charset="0"/>
                <a:ea typeface="Verdana" panose="020B0604030504040204" pitchFamily="34" charset="0"/>
              </a:rPr>
              <a:t>The proposed system is to design an interactive futuristic smart mirror with artificial intelligence using Raspberry Pi.</a:t>
            </a:r>
          </a:p>
          <a:p>
            <a:pPr algn="just"/>
            <a:r>
              <a:rPr lang="en-US" sz="1800" b="0" i="0" u="none" strike="noStrike" baseline="0" dirty="0">
                <a:solidFill>
                  <a:srgbClr val="000000"/>
                </a:solidFill>
                <a:latin typeface="Verdana" panose="020B0604030504040204" pitchFamily="34" charset="0"/>
                <a:ea typeface="Verdana" panose="020B0604030504040204" pitchFamily="34" charset="0"/>
              </a:rPr>
              <a:t>In the proposed system, the ability of the system to recognize face and provide details of the same, incorporates the theory of artificial intelligence.</a:t>
            </a:r>
          </a:p>
          <a:p>
            <a:pPr algn="just"/>
            <a:r>
              <a:rPr lang="en-US" sz="1800" b="0" i="0" u="none" strike="noStrike" baseline="0" dirty="0">
                <a:solidFill>
                  <a:srgbClr val="000000"/>
                </a:solidFill>
                <a:latin typeface="Verdana" panose="020B0604030504040204" pitchFamily="34" charset="0"/>
                <a:ea typeface="Verdana" panose="020B0604030504040204" pitchFamily="34" charset="0"/>
              </a:rPr>
              <a:t>Interactive computing, with wirelessly connected embedded devices that are being used in various day– to–day activities. Based on this technology, many devices/products are now emerging and with this intelligence it is providing comfortable, secure and convenient personal services everywhere.</a:t>
            </a:r>
          </a:p>
          <a:p>
            <a:pPr algn="just"/>
            <a:r>
              <a:rPr lang="en-US" sz="1800" b="0" i="0" u="none" strike="noStrike" baseline="0" dirty="0">
                <a:solidFill>
                  <a:srgbClr val="000000"/>
                </a:solidFill>
                <a:latin typeface="Verdana" panose="020B0604030504040204" pitchFamily="34" charset="0"/>
                <a:ea typeface="Verdana" panose="020B0604030504040204" pitchFamily="34" charset="0"/>
              </a:rPr>
              <a:t>The project aims at creating a smart system for users where it detects face using OpenCV. The mirror will recognize user’s face and it will be processed using Raspberry Pi and display user’s feeds. User’s image will be stored in database.</a:t>
            </a: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04936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36C56-92ED-4536-9063-B9EED98DFF8C}"/>
              </a:ext>
            </a:extLst>
          </p:cNvPr>
          <p:cNvSpPr>
            <a:spLocks noGrp="1"/>
          </p:cNvSpPr>
          <p:nvPr>
            <p:ph type="title"/>
          </p:nvPr>
        </p:nvSpPr>
        <p:spPr/>
        <p:txBody>
          <a:bodyPr>
            <a:normAutofit/>
          </a:bodyPr>
          <a:lstStyle/>
          <a:p>
            <a:pPr algn="ctr"/>
            <a:r>
              <a:rPr lang="en-US" b="1" u="sng" cap="none" dirty="0">
                <a:latin typeface="Century" panose="02040604050505020304" pitchFamily="18" charset="0"/>
              </a:rPr>
              <a:t>COMPONENTS USED</a:t>
            </a:r>
            <a:endParaRPr lang="en-US" dirty="0">
              <a:latin typeface="Century" panose="02040604050505020304" pitchFamily="18" charset="0"/>
            </a:endParaRPr>
          </a:p>
        </p:txBody>
      </p:sp>
      <p:pic>
        <p:nvPicPr>
          <p:cNvPr id="17" name="Content Placeholder 16">
            <a:extLst>
              <a:ext uri="{FF2B5EF4-FFF2-40B4-BE49-F238E27FC236}">
                <a16:creationId xmlns:a16="http://schemas.microsoft.com/office/drawing/2014/main" id="{C3ECA894-4830-4381-A786-EF8765A964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4498" y="1852062"/>
            <a:ext cx="2790825" cy="1638300"/>
          </a:xfrm>
        </p:spPr>
      </p:pic>
      <p:pic>
        <p:nvPicPr>
          <p:cNvPr id="19" name="Picture 18">
            <a:extLst>
              <a:ext uri="{FF2B5EF4-FFF2-40B4-BE49-F238E27FC236}">
                <a16:creationId xmlns:a16="http://schemas.microsoft.com/office/drawing/2014/main" id="{ED5EF362-634B-4441-9847-83470A398D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0040" y="4548364"/>
            <a:ext cx="989894" cy="989894"/>
          </a:xfrm>
          <a:prstGeom prst="rect">
            <a:avLst/>
          </a:prstGeom>
        </p:spPr>
      </p:pic>
      <p:pic>
        <p:nvPicPr>
          <p:cNvPr id="21" name="Picture 20">
            <a:extLst>
              <a:ext uri="{FF2B5EF4-FFF2-40B4-BE49-F238E27FC236}">
                <a16:creationId xmlns:a16="http://schemas.microsoft.com/office/drawing/2014/main" id="{99427063-97CD-4CBA-A5BD-AE13CC824D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19547" y="2093976"/>
            <a:ext cx="2502605" cy="1695878"/>
          </a:xfrm>
          <a:prstGeom prst="rect">
            <a:avLst/>
          </a:prstGeom>
        </p:spPr>
      </p:pic>
      <p:pic>
        <p:nvPicPr>
          <p:cNvPr id="23" name="Picture 22">
            <a:extLst>
              <a:ext uri="{FF2B5EF4-FFF2-40B4-BE49-F238E27FC236}">
                <a16:creationId xmlns:a16="http://schemas.microsoft.com/office/drawing/2014/main" id="{968B441E-5EA9-4DF0-9873-C0D05D8F52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03612" y="1815394"/>
            <a:ext cx="1866900" cy="1866900"/>
          </a:xfrm>
          <a:prstGeom prst="rect">
            <a:avLst/>
          </a:prstGeom>
        </p:spPr>
      </p:pic>
      <p:pic>
        <p:nvPicPr>
          <p:cNvPr id="25" name="Picture 24">
            <a:extLst>
              <a:ext uri="{FF2B5EF4-FFF2-40B4-BE49-F238E27FC236}">
                <a16:creationId xmlns:a16="http://schemas.microsoft.com/office/drawing/2014/main" id="{1C3C5789-E1A9-4742-A0A5-434C268F3B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18178" y="4310238"/>
            <a:ext cx="2935689" cy="1656997"/>
          </a:xfrm>
          <a:prstGeom prst="rect">
            <a:avLst/>
          </a:prstGeom>
        </p:spPr>
      </p:pic>
      <p:pic>
        <p:nvPicPr>
          <p:cNvPr id="26" name="Picture 25">
            <a:extLst>
              <a:ext uri="{FF2B5EF4-FFF2-40B4-BE49-F238E27FC236}">
                <a16:creationId xmlns:a16="http://schemas.microsoft.com/office/drawing/2014/main" id="{666DA7C9-C45C-4F5B-9D5B-A25C7239B815}"/>
              </a:ext>
            </a:extLst>
          </p:cNvPr>
          <p:cNvPicPr>
            <a:picLocks noChangeAspect="1"/>
          </p:cNvPicPr>
          <p:nvPr/>
        </p:nvPicPr>
        <p:blipFill>
          <a:blip r:embed="rId7"/>
          <a:stretch>
            <a:fillRect/>
          </a:stretch>
        </p:blipFill>
        <p:spPr>
          <a:xfrm>
            <a:off x="1082802" y="4310239"/>
            <a:ext cx="2771775" cy="1647825"/>
          </a:xfrm>
          <a:prstGeom prst="rect">
            <a:avLst/>
          </a:prstGeom>
        </p:spPr>
      </p:pic>
      <p:sp>
        <p:nvSpPr>
          <p:cNvPr id="28" name="Rectangle: Rounded Corners 27">
            <a:extLst>
              <a:ext uri="{FF2B5EF4-FFF2-40B4-BE49-F238E27FC236}">
                <a16:creationId xmlns:a16="http://schemas.microsoft.com/office/drawing/2014/main" id="{575F6DFE-4229-4513-AF29-BDE21A88BB26}"/>
              </a:ext>
            </a:extLst>
          </p:cNvPr>
          <p:cNvSpPr/>
          <p:nvPr/>
        </p:nvSpPr>
        <p:spPr>
          <a:xfrm>
            <a:off x="4718178" y="6072178"/>
            <a:ext cx="2834089" cy="49953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a:solidFill>
                  <a:srgbClr val="1A1A1A"/>
                </a:solidFill>
                <a:effectLst/>
                <a:latin typeface="PT Serif"/>
              </a:rPr>
              <a:t>Two-way mirror</a:t>
            </a:r>
            <a:endParaRPr lang="en-US"/>
          </a:p>
        </p:txBody>
      </p:sp>
      <p:sp>
        <p:nvSpPr>
          <p:cNvPr id="29" name="Rectangle: Rounded Corners 28">
            <a:extLst>
              <a:ext uri="{FF2B5EF4-FFF2-40B4-BE49-F238E27FC236}">
                <a16:creationId xmlns:a16="http://schemas.microsoft.com/office/drawing/2014/main" id="{0AC91349-4470-4F7C-8810-4B4D08E56AF7}"/>
              </a:ext>
            </a:extLst>
          </p:cNvPr>
          <p:cNvSpPr/>
          <p:nvPr/>
        </p:nvSpPr>
        <p:spPr>
          <a:xfrm>
            <a:off x="8844027" y="5624066"/>
            <a:ext cx="2502605" cy="49953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dirty="0">
                <a:solidFill>
                  <a:srgbClr val="1A1A1A"/>
                </a:solidFill>
                <a:effectLst/>
                <a:latin typeface="PT Serif"/>
              </a:rPr>
              <a:t>Micro SD Card</a:t>
            </a:r>
            <a:endParaRPr lang="en-US" dirty="0"/>
          </a:p>
        </p:txBody>
      </p:sp>
      <p:sp>
        <p:nvSpPr>
          <p:cNvPr id="30" name="Rectangle: Rounded Corners 29">
            <a:extLst>
              <a:ext uri="{FF2B5EF4-FFF2-40B4-BE49-F238E27FC236}">
                <a16:creationId xmlns:a16="http://schemas.microsoft.com/office/drawing/2014/main" id="{B94A1948-8CDC-40C7-B04A-F066432DCC94}"/>
              </a:ext>
            </a:extLst>
          </p:cNvPr>
          <p:cNvSpPr/>
          <p:nvPr/>
        </p:nvSpPr>
        <p:spPr>
          <a:xfrm>
            <a:off x="8292408" y="3859021"/>
            <a:ext cx="3325157" cy="49953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dirty="0">
                <a:solidFill>
                  <a:srgbClr val="424242"/>
                </a:solidFill>
                <a:effectLst/>
                <a:latin typeface="Helvetica" panose="020B0604020202020204" pitchFamily="34" charset="0"/>
              </a:rPr>
              <a:t> </a:t>
            </a:r>
            <a:r>
              <a:rPr lang="en-US" b="1" dirty="0">
                <a:solidFill>
                  <a:srgbClr val="424242"/>
                </a:solidFill>
                <a:latin typeface="Helvetica" panose="020B0604020202020204" pitchFamily="34" charset="0"/>
              </a:rPr>
              <a:t>M</a:t>
            </a:r>
            <a:r>
              <a:rPr lang="en-US" b="1" i="0" dirty="0">
                <a:solidFill>
                  <a:srgbClr val="424242"/>
                </a:solidFill>
                <a:effectLst/>
                <a:latin typeface="Helvetica" panose="020B0604020202020204" pitchFamily="34" charset="0"/>
              </a:rPr>
              <a:t>onitor</a:t>
            </a:r>
            <a:endParaRPr lang="en-US" dirty="0"/>
          </a:p>
        </p:txBody>
      </p:sp>
      <p:sp>
        <p:nvSpPr>
          <p:cNvPr id="31" name="Rectangle: Rounded Corners 30">
            <a:extLst>
              <a:ext uri="{FF2B5EF4-FFF2-40B4-BE49-F238E27FC236}">
                <a16:creationId xmlns:a16="http://schemas.microsoft.com/office/drawing/2014/main" id="{D3136992-5FCB-43CA-BCF9-15A88F02D1DF}"/>
              </a:ext>
            </a:extLst>
          </p:cNvPr>
          <p:cNvSpPr/>
          <p:nvPr/>
        </p:nvSpPr>
        <p:spPr>
          <a:xfrm>
            <a:off x="4779511" y="3540087"/>
            <a:ext cx="2391001" cy="49953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dirty="0">
                <a:solidFill>
                  <a:srgbClr val="1A1A1A"/>
                </a:solidFill>
                <a:effectLst/>
                <a:latin typeface="PT Serif"/>
              </a:rPr>
              <a:t>HDMI Cable</a:t>
            </a:r>
          </a:p>
        </p:txBody>
      </p:sp>
      <p:sp>
        <p:nvSpPr>
          <p:cNvPr id="33" name="Rectangle: Rounded Corners 32">
            <a:extLst>
              <a:ext uri="{FF2B5EF4-FFF2-40B4-BE49-F238E27FC236}">
                <a16:creationId xmlns:a16="http://schemas.microsoft.com/office/drawing/2014/main" id="{D48F5434-663A-42A2-82F8-AE3753ADDDDC}"/>
              </a:ext>
            </a:extLst>
          </p:cNvPr>
          <p:cNvSpPr/>
          <p:nvPr/>
        </p:nvSpPr>
        <p:spPr>
          <a:xfrm>
            <a:off x="1156163" y="3512884"/>
            <a:ext cx="2391001" cy="49953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dirty="0">
                <a:solidFill>
                  <a:srgbClr val="1A1A1A"/>
                </a:solidFill>
                <a:effectLst/>
                <a:latin typeface="PT Serif"/>
              </a:rPr>
              <a:t>Raspberry Pi</a:t>
            </a:r>
            <a:endParaRPr lang="en-US" dirty="0"/>
          </a:p>
        </p:txBody>
      </p:sp>
      <p:sp>
        <p:nvSpPr>
          <p:cNvPr id="35" name="Rectangle: Rounded Corners 34">
            <a:extLst>
              <a:ext uri="{FF2B5EF4-FFF2-40B4-BE49-F238E27FC236}">
                <a16:creationId xmlns:a16="http://schemas.microsoft.com/office/drawing/2014/main" id="{1BE44F4E-ECB2-4B8B-A092-7EA8E0772F10}"/>
              </a:ext>
            </a:extLst>
          </p:cNvPr>
          <p:cNvSpPr/>
          <p:nvPr/>
        </p:nvSpPr>
        <p:spPr>
          <a:xfrm>
            <a:off x="962865" y="6006119"/>
            <a:ext cx="2834089" cy="49953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dirty="0">
                <a:solidFill>
                  <a:srgbClr val="1A1A1A"/>
                </a:solidFill>
                <a:effectLst/>
                <a:latin typeface="PT Serif"/>
              </a:rPr>
              <a:t>Mouse &amp; Keyboard</a:t>
            </a:r>
            <a:endParaRPr lang="en-US" dirty="0"/>
          </a:p>
        </p:txBody>
      </p:sp>
    </p:spTree>
    <p:extLst>
      <p:ext uri="{BB962C8B-B14F-4D97-AF65-F5344CB8AC3E}">
        <p14:creationId xmlns:p14="http://schemas.microsoft.com/office/powerpoint/2010/main" val="1111163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E4F46-38B0-4B25-B322-C21CA1325240}"/>
              </a:ext>
            </a:extLst>
          </p:cNvPr>
          <p:cNvSpPr>
            <a:spLocks noGrp="1"/>
          </p:cNvSpPr>
          <p:nvPr>
            <p:ph type="title"/>
          </p:nvPr>
        </p:nvSpPr>
        <p:spPr>
          <a:xfrm>
            <a:off x="1069848" y="484632"/>
            <a:ext cx="10058400" cy="1502212"/>
          </a:xfrm>
        </p:spPr>
        <p:txBody>
          <a:bodyPr/>
          <a:lstStyle/>
          <a:p>
            <a:pPr algn="ctr"/>
            <a:r>
              <a:rPr lang="en-IN" sz="4400" b="1" u="sng" dirty="0">
                <a:latin typeface="Century" panose="02040604050505020304" pitchFamily="18" charset="0"/>
              </a:rPr>
              <a:t>WORKING</a:t>
            </a:r>
            <a:endParaRPr lang="en-US" dirty="0">
              <a:latin typeface="Century" panose="02040604050505020304" pitchFamily="18" charset="0"/>
            </a:endParaRPr>
          </a:p>
        </p:txBody>
      </p:sp>
      <p:sp>
        <p:nvSpPr>
          <p:cNvPr id="3" name="Content Placeholder 2">
            <a:extLst>
              <a:ext uri="{FF2B5EF4-FFF2-40B4-BE49-F238E27FC236}">
                <a16:creationId xmlns:a16="http://schemas.microsoft.com/office/drawing/2014/main" id="{328DFFC5-FDD9-4459-BFE2-9CEAA0E920A4}"/>
              </a:ext>
            </a:extLst>
          </p:cNvPr>
          <p:cNvSpPr>
            <a:spLocks noGrp="1"/>
          </p:cNvSpPr>
          <p:nvPr>
            <p:ph idx="1"/>
          </p:nvPr>
        </p:nvSpPr>
        <p:spPr>
          <a:xfrm>
            <a:off x="1057656" y="1467556"/>
            <a:ext cx="10064496" cy="4730044"/>
          </a:xfrm>
        </p:spPr>
        <p:txBody>
          <a:bodyPr>
            <a:normAutofit fontScale="92500" lnSpcReduction="10000"/>
          </a:bodyPr>
          <a:lstStyle/>
          <a:p>
            <a:endParaRPr lang="en-US" b="1" i="0" dirty="0">
              <a:solidFill>
                <a:srgbClr val="333333"/>
              </a:solidFill>
              <a:effectLst/>
              <a:latin typeface="Verdana" panose="020B0604030504040204" pitchFamily="34" charset="0"/>
              <a:ea typeface="Verdana" panose="020B0604030504040204" pitchFamily="34" charset="0"/>
            </a:endParaRPr>
          </a:p>
          <a:p>
            <a:r>
              <a:rPr lang="en-US" b="1" i="0" dirty="0">
                <a:solidFill>
                  <a:schemeClr val="accent2">
                    <a:lumMod val="60000"/>
                    <a:lumOff val="40000"/>
                  </a:schemeClr>
                </a:solidFill>
                <a:effectLst/>
                <a:latin typeface="Verdana" panose="020B0604030504040204" pitchFamily="34" charset="0"/>
                <a:ea typeface="Verdana" panose="020B0604030504040204" pitchFamily="34" charset="0"/>
              </a:rPr>
              <a:t>Setting Up the Raspberry Pi - </a:t>
            </a:r>
            <a:r>
              <a:rPr lang="en-US" b="0" i="0" dirty="0">
                <a:effectLst/>
                <a:latin typeface="Verdana" panose="020B0604030504040204" pitchFamily="34" charset="0"/>
                <a:ea typeface="Verdana" panose="020B0604030504040204" pitchFamily="34" charset="0"/>
              </a:rPr>
              <a:t>The operating system "Raspbian" has to be installed on the micro SD card, plug in the keyboard and mouse to the Pi and attach the HDMI cable to the monitor that is in use. Boot into Raspbian and connect to the internet. </a:t>
            </a:r>
          </a:p>
          <a:p>
            <a:pPr marL="0" indent="0" algn="just">
              <a:buNone/>
            </a:pPr>
            <a:r>
              <a:rPr lang="en-US" b="0" i="0" dirty="0">
                <a:effectLst/>
                <a:latin typeface="Verdana" panose="020B0604030504040204" pitchFamily="34" charset="0"/>
                <a:ea typeface="Verdana" panose="020B0604030504040204" pitchFamily="34" charset="0"/>
              </a:rPr>
              <a:t>   Since it is most likely that Raspberry Pi smart mirror is going to be hung on a wall somewhere,    </a:t>
            </a:r>
            <a:r>
              <a:rPr lang="en-US" dirty="0">
                <a:latin typeface="Verdana" panose="020B0604030504040204" pitchFamily="34" charset="0"/>
                <a:ea typeface="Verdana" panose="020B0604030504040204" pitchFamily="34" charset="0"/>
              </a:rPr>
              <a:t>it is better to be </a:t>
            </a:r>
            <a:r>
              <a:rPr lang="en-US" b="0" i="0" dirty="0">
                <a:effectLst/>
                <a:latin typeface="Verdana" panose="020B0604030504040204" pitchFamily="34" charset="0"/>
                <a:ea typeface="Verdana" panose="020B0604030504040204" pitchFamily="34" charset="0"/>
              </a:rPr>
              <a:t>connected to  Wi-Fi. </a:t>
            </a:r>
          </a:p>
          <a:p>
            <a:pPr algn="just"/>
            <a:r>
              <a:rPr lang="en-US" b="1" dirty="0">
                <a:solidFill>
                  <a:schemeClr val="accent2">
                    <a:lumMod val="60000"/>
                    <a:lumOff val="40000"/>
                  </a:schemeClr>
                </a:solidFill>
                <a:effectLst/>
                <a:latin typeface="Verdana" panose="020B0604030504040204" pitchFamily="34" charset="0"/>
                <a:ea typeface="Verdana" panose="020B0604030504040204" pitchFamily="34" charset="0"/>
              </a:rPr>
              <a:t>Magic Mirror Software Setup- </a:t>
            </a:r>
            <a:r>
              <a:rPr lang="en-US" dirty="0">
                <a:effectLst/>
                <a:latin typeface="Verdana" panose="020B0604030504040204" pitchFamily="34" charset="0"/>
                <a:ea typeface="Verdana" panose="020B0604030504040204" pitchFamily="34" charset="0"/>
              </a:rPr>
              <a:t>Now, </a:t>
            </a:r>
            <a:r>
              <a:rPr lang="en-US" dirty="0">
                <a:latin typeface="Verdana" panose="020B0604030504040204" pitchFamily="34" charset="0"/>
                <a:ea typeface="Verdana" panose="020B0604030504040204" pitchFamily="34" charset="0"/>
              </a:rPr>
              <a:t>t</a:t>
            </a:r>
            <a:r>
              <a:rPr lang="en-US" i="0" dirty="0">
                <a:effectLst/>
                <a:latin typeface="Verdana" panose="020B0604030504040204" pitchFamily="34" charset="0"/>
                <a:ea typeface="Verdana" panose="020B0604030504040204" pitchFamily="34" charset="0"/>
              </a:rPr>
              <a:t>here are </a:t>
            </a:r>
            <a:r>
              <a:rPr lang="en-US" b="0" i="0" dirty="0">
                <a:effectLst/>
                <a:latin typeface="Verdana" panose="020B0604030504040204" pitchFamily="34" charset="0"/>
                <a:ea typeface="Verdana" panose="020B0604030504040204" pitchFamily="34" charset="0"/>
              </a:rPr>
              <a:t>two ways to install the latest version of Magic Mirror</a:t>
            </a:r>
            <a:r>
              <a:rPr lang="en-US" dirty="0">
                <a:latin typeface="Verdana" panose="020B0604030504040204" pitchFamily="34" charset="0"/>
                <a:ea typeface="Verdana" panose="020B0604030504040204" pitchFamily="34" charset="0"/>
              </a:rPr>
              <a:t>, </a:t>
            </a:r>
            <a:r>
              <a:rPr lang="en-US" b="0" i="0" dirty="0">
                <a:effectLst/>
                <a:latin typeface="Verdana" panose="020B0604030504040204" pitchFamily="34" charset="0"/>
                <a:ea typeface="Verdana" panose="020B0604030504040204" pitchFamily="34" charset="0"/>
              </a:rPr>
              <a:t>either manually or using an automatic installation script.</a:t>
            </a:r>
          </a:p>
          <a:p>
            <a:pPr algn="just"/>
            <a:r>
              <a:rPr lang="en-US" b="1" dirty="0">
                <a:solidFill>
                  <a:schemeClr val="accent2">
                    <a:lumMod val="60000"/>
                    <a:lumOff val="40000"/>
                  </a:schemeClr>
                </a:solidFill>
                <a:effectLst/>
                <a:latin typeface="Verdana" panose="020B0604030504040204" pitchFamily="34" charset="0"/>
                <a:ea typeface="Verdana" panose="020B0604030504040204" pitchFamily="34" charset="0"/>
              </a:rPr>
              <a:t>Installing Magic Mirror on Raspberry Pi - </a:t>
            </a:r>
            <a:r>
              <a:rPr lang="en-US" b="0" i="0" dirty="0">
                <a:effectLst/>
                <a:latin typeface="Verdana" panose="020B0604030504040204" pitchFamily="34" charset="0"/>
                <a:ea typeface="Verdana" panose="020B0604030504040204" pitchFamily="34" charset="0"/>
              </a:rPr>
              <a:t>Once the operating system "Raspbian" is installed on the micro SD card, plug it </a:t>
            </a:r>
            <a:r>
              <a:rPr lang="en-US" dirty="0">
                <a:latin typeface="Verdana" panose="020B0604030504040204" pitchFamily="34" charset="0"/>
                <a:ea typeface="Verdana" panose="020B0604030504040204" pitchFamily="34" charset="0"/>
              </a:rPr>
              <a:t>with k</a:t>
            </a:r>
            <a:r>
              <a:rPr lang="en-US" b="0" i="0" dirty="0">
                <a:effectLst/>
                <a:latin typeface="Verdana" panose="020B0604030504040204" pitchFamily="34" charset="0"/>
                <a:ea typeface="Verdana" panose="020B0604030504040204" pitchFamily="34" charset="0"/>
              </a:rPr>
              <a:t>eyboard and mouse to the Pi and attach the HDMI cable to the monitor.</a:t>
            </a:r>
          </a:p>
          <a:p>
            <a:pPr marL="0" indent="0" algn="just">
              <a:buNone/>
            </a:pPr>
            <a:r>
              <a:rPr lang="en-US" b="0" i="0" dirty="0">
                <a:effectLst/>
                <a:latin typeface="Verdana" panose="020B0604030504040204" pitchFamily="34" charset="0"/>
                <a:ea typeface="Verdana" panose="020B0604030504040204" pitchFamily="34" charset="0"/>
              </a:rPr>
              <a:t>   After the system boots up, begin configuring the Pi to the required location. After all the   location is configured. Just save and reboot the Pi. Now, then the programming begins!</a:t>
            </a:r>
            <a:endParaRPr lang="en-US" b="1" dirty="0">
              <a:effectLst/>
              <a:latin typeface="Verdana" panose="020B0604030504040204" pitchFamily="34" charset="0"/>
              <a:ea typeface="Verdana" panose="020B0604030504040204" pitchFamily="34" charset="0"/>
            </a:endParaRPr>
          </a:p>
          <a:p>
            <a:pPr algn="just"/>
            <a:endParaRPr lang="en-US" b="0" dirty="0">
              <a:effectLst/>
              <a:latin typeface="Arimo"/>
            </a:endParaRPr>
          </a:p>
          <a:p>
            <a:pPr marL="0" indent="0">
              <a:buNone/>
            </a:pPr>
            <a:endParaRPr lang="en-US" dirty="0"/>
          </a:p>
        </p:txBody>
      </p:sp>
    </p:spTree>
    <p:extLst>
      <p:ext uri="{BB962C8B-B14F-4D97-AF65-F5344CB8AC3E}">
        <p14:creationId xmlns:p14="http://schemas.microsoft.com/office/powerpoint/2010/main" val="2660649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84BE4C-ECF2-47CB-BA39-660A0E190A29}"/>
              </a:ext>
            </a:extLst>
          </p:cNvPr>
          <p:cNvSpPr>
            <a:spLocks noGrp="1"/>
          </p:cNvSpPr>
          <p:nvPr>
            <p:ph idx="1"/>
          </p:nvPr>
        </p:nvSpPr>
        <p:spPr>
          <a:xfrm>
            <a:off x="810204" y="1218296"/>
            <a:ext cx="10058400" cy="5306681"/>
          </a:xfrm>
        </p:spPr>
        <p:txBody>
          <a:bodyPr>
            <a:normAutofit lnSpcReduction="10000"/>
          </a:bodyPr>
          <a:lstStyle/>
          <a:p>
            <a:r>
              <a:rPr lang="en-US" sz="1900" b="1" i="0" dirty="0">
                <a:solidFill>
                  <a:schemeClr val="accent2">
                    <a:lumMod val="60000"/>
                    <a:lumOff val="40000"/>
                  </a:schemeClr>
                </a:solidFill>
                <a:effectLst/>
                <a:latin typeface="Verdana" panose="020B0604030504040204" pitchFamily="34" charset="0"/>
                <a:ea typeface="Verdana" panose="020B0604030504040204" pitchFamily="34" charset="0"/>
              </a:rPr>
              <a:t>Magic Mirror- </a:t>
            </a:r>
            <a:r>
              <a:rPr lang="en-US" sz="1900" i="0" dirty="0">
                <a:effectLst/>
                <a:latin typeface="Verdana" panose="020B0604030504040204" pitchFamily="34" charset="0"/>
                <a:ea typeface="Verdana" panose="020B0604030504040204" pitchFamily="34" charset="0"/>
              </a:rPr>
              <a:t>Using the Pi, one must download and clone the repository, along with its dependencies. By doing this, the Pi will be able to run the program and display certain elements contained in the Magic Mirror file. </a:t>
            </a:r>
          </a:p>
          <a:p>
            <a:pPr marL="0" indent="0">
              <a:buNone/>
            </a:pPr>
            <a:r>
              <a:rPr lang="en-US" sz="1900" i="0" dirty="0">
                <a:effectLst/>
                <a:latin typeface="Verdana" panose="020B0604030504040204" pitchFamily="34" charset="0"/>
                <a:ea typeface="Verdana" panose="020B0604030504040204" pitchFamily="34" charset="0"/>
              </a:rPr>
              <a:t>    To add some extra features , one must access the modules folder. This folder is the key to  housing all the desired options you want for Magic Mirror</a:t>
            </a:r>
          </a:p>
          <a:p>
            <a:r>
              <a:rPr lang="en-US" sz="1900" b="1" i="0" dirty="0">
                <a:solidFill>
                  <a:schemeClr val="accent2">
                    <a:lumMod val="60000"/>
                    <a:lumOff val="40000"/>
                  </a:schemeClr>
                </a:solidFill>
                <a:effectLst/>
                <a:latin typeface="Verdana" panose="020B0604030504040204" pitchFamily="34" charset="0"/>
                <a:ea typeface="Verdana" panose="020B0604030504040204" pitchFamily="34" charset="0"/>
              </a:rPr>
              <a:t>The Frame - </a:t>
            </a:r>
            <a:r>
              <a:rPr lang="en-US" sz="1900" b="0" i="0" dirty="0">
                <a:effectLst/>
                <a:latin typeface="Verdana" panose="020B0604030504040204" pitchFamily="34" charset="0"/>
                <a:ea typeface="Verdana" panose="020B0604030504040204" pitchFamily="34" charset="0"/>
              </a:rPr>
              <a:t>Though the frame is relatively easy to build, there are a few crucial things that one must considered in order to prepare. First off, dealing with the two way mirror. Depending on the size of the monitor, one is required to cut the mirror to size around a half an inch larger (width and length wise) than the monitor. </a:t>
            </a:r>
          </a:p>
          <a:p>
            <a:pPr marL="0" indent="0">
              <a:buNone/>
            </a:pPr>
            <a:r>
              <a:rPr lang="en-US" sz="1900" b="0" i="0" dirty="0">
                <a:solidFill>
                  <a:srgbClr val="555555"/>
                </a:solidFill>
                <a:effectLst/>
                <a:latin typeface="Verdana" panose="020B0604030504040204" pitchFamily="34" charset="0"/>
                <a:ea typeface="Verdana" panose="020B0604030504040204" pitchFamily="34" charset="0"/>
              </a:rPr>
              <a:t>  </a:t>
            </a:r>
            <a:r>
              <a:rPr lang="en-US" sz="1900" b="0" i="0" dirty="0">
                <a:effectLst/>
                <a:latin typeface="Verdana" panose="020B0604030504040204" pitchFamily="34" charset="0"/>
                <a:ea typeface="Verdana" panose="020B0604030504040204" pitchFamily="34" charset="0"/>
              </a:rPr>
              <a:t>Once the frame has been set and is stable, sandwich the mirror between the frame and the monitor. Screw in the 3D brackets, making sure they are firmly placed.</a:t>
            </a:r>
          </a:p>
          <a:p>
            <a:r>
              <a:rPr lang="en-US" sz="1900" b="1" i="0" dirty="0">
                <a:solidFill>
                  <a:schemeClr val="accent2">
                    <a:lumMod val="60000"/>
                    <a:lumOff val="40000"/>
                  </a:schemeClr>
                </a:solidFill>
                <a:effectLst/>
                <a:latin typeface="Verdana" panose="020B0604030504040204" pitchFamily="34" charset="0"/>
                <a:ea typeface="Verdana" panose="020B0604030504040204" pitchFamily="34" charset="0"/>
              </a:rPr>
              <a:t>Assembling the Smart Mirror -  </a:t>
            </a:r>
            <a:r>
              <a:rPr lang="en-US" sz="1900" b="0" i="0" dirty="0">
                <a:effectLst/>
                <a:latin typeface="Verdana" panose="020B0604030504040204" pitchFamily="34" charset="0"/>
                <a:ea typeface="Verdana" panose="020B0604030504040204" pitchFamily="34" charset="0"/>
              </a:rPr>
              <a:t>We must conceal </a:t>
            </a:r>
            <a:r>
              <a:rPr lang="en-US" sz="1900" b="0" i="0" dirty="0">
                <a:solidFill>
                  <a:srgbClr val="1A1A1A"/>
                </a:solidFill>
                <a:effectLst/>
                <a:latin typeface="Verdana" panose="020B0604030504040204" pitchFamily="34" charset="0"/>
                <a:ea typeface="Verdana" panose="020B0604030504040204" pitchFamily="34" charset="0"/>
              </a:rPr>
              <a:t>the hardware in a way that looks like a normal mirror. Mount the Raspberry Pi on the backside of the monitor. Then attach the two-way mirror on the top face of the monitor carefully.</a:t>
            </a:r>
          </a:p>
          <a:p>
            <a:pPr marL="0" indent="0">
              <a:buNone/>
            </a:pPr>
            <a:br>
              <a:rPr lang="en-US" b="0" i="0" u="none" strike="noStrike" dirty="0">
                <a:solidFill>
                  <a:srgbClr val="0000FF"/>
                </a:solidFill>
                <a:effectLst/>
                <a:latin typeface="Arimo"/>
                <a:hlinkClick r:id="rId2"/>
              </a:rPr>
            </a:br>
            <a:endParaRPr lang="en-US" b="1" i="0" dirty="0">
              <a:solidFill>
                <a:srgbClr val="333333"/>
              </a:solidFill>
              <a:effectLst/>
              <a:latin typeface="Arimo"/>
            </a:endParaRPr>
          </a:p>
          <a:p>
            <a:endParaRPr lang="en-US" b="1" i="0" dirty="0">
              <a:solidFill>
                <a:srgbClr val="333333"/>
              </a:solidFill>
              <a:effectLst/>
              <a:latin typeface="Helvetica Neue"/>
            </a:endParaRPr>
          </a:p>
          <a:p>
            <a:endParaRPr lang="en-US" dirty="0"/>
          </a:p>
        </p:txBody>
      </p:sp>
    </p:spTree>
    <p:extLst>
      <p:ext uri="{BB962C8B-B14F-4D97-AF65-F5344CB8AC3E}">
        <p14:creationId xmlns:p14="http://schemas.microsoft.com/office/powerpoint/2010/main" val="578888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B2745-73A2-44B6-B49E-E0E5FA2811AF}"/>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latin typeface="Century" panose="02040604050505020304" pitchFamily="18" charset="0"/>
              </a:rPr>
              <a:t>EXPECTED OUTPUT</a:t>
            </a:r>
          </a:p>
        </p:txBody>
      </p:sp>
      <p:pic>
        <p:nvPicPr>
          <p:cNvPr id="4" name="Content Placeholder 3">
            <a:extLst>
              <a:ext uri="{FF2B5EF4-FFF2-40B4-BE49-F238E27FC236}">
                <a16:creationId xmlns:a16="http://schemas.microsoft.com/office/drawing/2014/main" id="{DCD92CAE-D8CC-4407-9CC0-85E90F978597}"/>
              </a:ext>
            </a:extLst>
          </p:cNvPr>
          <p:cNvPicPr>
            <a:picLocks noGrp="1" noChangeAspect="1"/>
          </p:cNvPicPr>
          <p:nvPr>
            <p:ph idx="1"/>
          </p:nvPr>
        </p:nvPicPr>
        <p:blipFill>
          <a:blip r:embed="rId2"/>
          <a:stretch>
            <a:fillRect/>
          </a:stretch>
        </p:blipFill>
        <p:spPr>
          <a:xfrm>
            <a:off x="1244373" y="2093976"/>
            <a:ext cx="3237315" cy="4229439"/>
          </a:xfrm>
          <a:prstGeom prst="rect">
            <a:avLst/>
          </a:prstGeom>
        </p:spPr>
      </p:pic>
      <p:sp>
        <p:nvSpPr>
          <p:cNvPr id="5" name="Rectangle: Rounded Corners 4">
            <a:extLst>
              <a:ext uri="{FF2B5EF4-FFF2-40B4-BE49-F238E27FC236}">
                <a16:creationId xmlns:a16="http://schemas.microsoft.com/office/drawing/2014/main" id="{2C78652E-5831-43BB-9A98-C2C8690C1CE2}"/>
              </a:ext>
            </a:extLst>
          </p:cNvPr>
          <p:cNvSpPr/>
          <p:nvPr/>
        </p:nvSpPr>
        <p:spPr>
          <a:xfrm>
            <a:off x="4876799" y="2261671"/>
            <a:ext cx="6366933" cy="422943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1800" b="0" i="0" u="none" strike="noStrike" baseline="0" dirty="0">
                <a:solidFill>
                  <a:srgbClr val="000000"/>
                </a:solidFill>
                <a:latin typeface="Verdana" panose="020B0604030504040204" pitchFamily="34" charset="0"/>
                <a:ea typeface="Verdana" panose="020B0604030504040204" pitchFamily="34" charset="0"/>
              </a:rPr>
              <a:t>The output of the Smart Mirror has a black output screen which displays weather, news and time. The top right corner of the screen displays time which is present in the Raspberry Pi. It makes use the calendar for displaying the day and date along with time. </a:t>
            </a:r>
          </a:p>
          <a:p>
            <a:pPr marL="285750" indent="-285750" algn="just">
              <a:buFont typeface="Arial" panose="020B0604020202020204" pitchFamily="34" charset="0"/>
              <a:buChar char="•"/>
            </a:pPr>
            <a:endParaRPr lang="en-US" sz="1800" b="0" i="0" u="none" strike="noStrike" baseline="0" dirty="0">
              <a:solidFill>
                <a:srgbClr val="000000"/>
              </a:solidFill>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US" sz="1800" b="0" i="0" u="none" strike="noStrike" baseline="0" dirty="0">
                <a:solidFill>
                  <a:srgbClr val="000000"/>
                </a:solidFill>
                <a:latin typeface="Verdana" panose="020B0604030504040204" pitchFamily="34" charset="0"/>
                <a:ea typeface="Verdana" panose="020B0604030504040204" pitchFamily="34" charset="0"/>
              </a:rPr>
              <a:t>Weather condition update changes every hour and is displayed on the screen if there is a change in temperature else the temperature remains unchanged. </a:t>
            </a:r>
          </a:p>
          <a:p>
            <a:pPr algn="ctr"/>
            <a:endParaRPr lang="en-US" dirty="0">
              <a:solidFill>
                <a:srgbClr val="000000"/>
              </a:solidFill>
              <a:latin typeface="Times New Roman" panose="02020603050405020304" pitchFamily="18" charset="0"/>
            </a:endParaRPr>
          </a:p>
          <a:p>
            <a:pPr algn="ctr"/>
            <a:endParaRPr lang="en-US" dirty="0"/>
          </a:p>
        </p:txBody>
      </p:sp>
    </p:spTree>
    <p:extLst>
      <p:ext uri="{BB962C8B-B14F-4D97-AF65-F5344CB8AC3E}">
        <p14:creationId xmlns:p14="http://schemas.microsoft.com/office/powerpoint/2010/main" val="760216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757B2-A0ED-4986-BA52-9CB5E4A90553}"/>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latin typeface="Century" panose="02040604050505020304" pitchFamily="18" charset="0"/>
              </a:rPr>
              <a:t>CONCLUSION</a:t>
            </a:r>
          </a:p>
        </p:txBody>
      </p:sp>
      <p:sp>
        <p:nvSpPr>
          <p:cNvPr id="3" name="Content Placeholder 2">
            <a:extLst>
              <a:ext uri="{FF2B5EF4-FFF2-40B4-BE49-F238E27FC236}">
                <a16:creationId xmlns:a16="http://schemas.microsoft.com/office/drawing/2014/main" id="{C48ADD29-C887-4B6B-AE91-956D2A928440}"/>
              </a:ext>
            </a:extLst>
          </p:cNvPr>
          <p:cNvSpPr>
            <a:spLocks noGrp="1"/>
          </p:cNvSpPr>
          <p:nvPr>
            <p:ph idx="1"/>
          </p:nvPr>
        </p:nvSpPr>
        <p:spPr/>
        <p:txBody>
          <a:bodyPr/>
          <a:lstStyle/>
          <a:p>
            <a:pPr algn="just"/>
            <a:r>
              <a:rPr lang="en-US" sz="1800" b="0" i="0" u="none" strike="noStrike" baseline="0" dirty="0">
                <a:solidFill>
                  <a:srgbClr val="000000"/>
                </a:solidFill>
                <a:latin typeface="Verdana" panose="020B0604030504040204" pitchFamily="34" charset="0"/>
                <a:ea typeface="Verdana" panose="020B0604030504040204" pitchFamily="34" charset="0"/>
              </a:rPr>
              <a:t>The smart mirror can also be implemented in various industrial and home applications. </a:t>
            </a:r>
          </a:p>
          <a:p>
            <a:pPr algn="just"/>
            <a:r>
              <a:rPr lang="en-US" sz="1800" b="0" i="0" u="none" strike="noStrike" baseline="0" dirty="0">
                <a:solidFill>
                  <a:srgbClr val="000000"/>
                </a:solidFill>
                <a:latin typeface="Verdana" panose="020B0604030504040204" pitchFamily="34" charset="0"/>
                <a:ea typeface="Verdana" panose="020B0604030504040204" pitchFamily="34" charset="0"/>
              </a:rPr>
              <a:t>Hence IoT proves out to be an important technology for making household appliances smart. </a:t>
            </a:r>
          </a:p>
          <a:p>
            <a:pPr algn="just"/>
            <a:r>
              <a:rPr lang="en-US" sz="1800" b="0" i="0" u="none" strike="noStrike" baseline="0" dirty="0">
                <a:solidFill>
                  <a:srgbClr val="000000"/>
                </a:solidFill>
                <a:latin typeface="Verdana" panose="020B0604030504040204" pitchFamily="34" charset="0"/>
                <a:ea typeface="Verdana" panose="020B0604030504040204" pitchFamily="34" charset="0"/>
              </a:rPr>
              <a:t>The facial recognition technology used in the smart mirror proves out to be an important means of security. Smart mirrors can be connected to home appliances and smart phones. </a:t>
            </a:r>
          </a:p>
          <a:p>
            <a:pPr algn="just"/>
            <a:r>
              <a:rPr lang="en-US" sz="1800" b="0" i="0" u="none" strike="noStrike" baseline="0" dirty="0">
                <a:solidFill>
                  <a:srgbClr val="000000"/>
                </a:solidFill>
                <a:latin typeface="Verdana" panose="020B0604030504040204" pitchFamily="34" charset="0"/>
                <a:ea typeface="Verdana" panose="020B0604030504040204" pitchFamily="34" charset="0"/>
              </a:rPr>
              <a:t>The mirrors can detect face and provide access to personalized services. The mirror can also be implemented to recognize emotions. </a:t>
            </a:r>
          </a:p>
          <a:p>
            <a:pPr algn="just"/>
            <a:r>
              <a:rPr lang="en-US" sz="1800" b="0" i="0" u="none" strike="noStrike" baseline="0" dirty="0">
                <a:solidFill>
                  <a:srgbClr val="000000"/>
                </a:solidFill>
                <a:latin typeface="Verdana" panose="020B0604030504040204" pitchFamily="34" charset="0"/>
                <a:ea typeface="Verdana" panose="020B0604030504040204" pitchFamily="34" charset="0"/>
              </a:rPr>
              <a:t>The mirrors can be better enhanced to be deployed in beauty parlors, cloth shops, hotels, etc. with better advancements in technology, mirrors can be used in many other fields. </a:t>
            </a:r>
            <a:endParaRPr lang="en-US"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5457524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91</TotalTime>
  <Words>943</Words>
  <Application>Microsoft Office PowerPoint</Application>
  <PresentationFormat>Widescreen</PresentationFormat>
  <Paragraphs>52</Paragraphs>
  <Slides>9</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9</vt:i4>
      </vt:variant>
    </vt:vector>
  </HeadingPairs>
  <TitlesOfParts>
    <vt:vector size="22" baseType="lpstr">
      <vt:lpstr>Arial</vt:lpstr>
      <vt:lpstr>Arimo</vt:lpstr>
      <vt:lpstr>Bookman Old Style</vt:lpstr>
      <vt:lpstr>Century</vt:lpstr>
      <vt:lpstr>Helvetica</vt:lpstr>
      <vt:lpstr>Helvetica Neue</vt:lpstr>
      <vt:lpstr>PT Serif</vt:lpstr>
      <vt:lpstr>Rockwell</vt:lpstr>
      <vt:lpstr>Rockwell Condensed</vt:lpstr>
      <vt:lpstr>Times New Roman</vt:lpstr>
      <vt:lpstr>Verdana</vt:lpstr>
      <vt:lpstr>Wingdings</vt:lpstr>
      <vt:lpstr>Wood Type</vt:lpstr>
      <vt:lpstr>PowerPoint Presentation</vt:lpstr>
      <vt:lpstr>INTRODUCTION </vt:lpstr>
      <vt:lpstr>BLOCK DIAGRAM</vt:lpstr>
      <vt:lpstr>PROPOSED METHODOLOGY</vt:lpstr>
      <vt:lpstr>COMPONENTS USED</vt:lpstr>
      <vt:lpstr>WORKING</vt:lpstr>
      <vt:lpstr>PowerPoint Presentation</vt:lpstr>
      <vt:lpstr>EXPECTED OUTPUT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krishna sah</dc:creator>
  <cp:lastModifiedBy>krishna sah</cp:lastModifiedBy>
  <cp:revision>22</cp:revision>
  <dcterms:created xsi:type="dcterms:W3CDTF">2020-11-11T15:40:04Z</dcterms:created>
  <dcterms:modified xsi:type="dcterms:W3CDTF">2020-11-16T16:30:55Z</dcterms:modified>
</cp:coreProperties>
</file>